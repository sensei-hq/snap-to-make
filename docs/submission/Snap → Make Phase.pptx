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Inter" panose="02000503000000020004" pitchFamily="34" charset="0"/>
      <p:regular r:id="rId19"/>
      <p:bold r:id="rId20"/>
    </p:embeddedFont>
    <p:embeddedFont>
      <p:font typeface="JetBrains Mono" panose="02000009000000000000" pitchFamily="49" charset="0"/>
      <p:regular r:id="rId21"/>
      <p:bold r:id="rId22"/>
    </p:embeddedFont>
    <p:embeddedFont>
      <p:font typeface="Fraunces" pitchFamily="18" charset="0"/>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Burn-E Snap to Make. Point your phone at a sketch and the thing it has to fit, say what you want, and Burn-E measures, designs the parts, previews the result and writes the G-code, then watches the burn. This deck walks the Phase 1 hero journey screen by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is easy now. The design step is the wall: measuring the real world, tracing sketches, imagining the result and watching the burn are all manual today. Burn-E takes on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one hero journey: Dev, a hobby maker with a Longer Ray 5, makes four coasters and a finger-jointed holder for his friend Maya. Show it, say it, see it, burn it: ten phone screens, under five minutes of software time, ending with a physical object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it. One photo with a reference card. Spark 1.3 returns a SceneAnalysis: which object is the art, which is the fit target, which is the reference. SAM 3.1 outlines each one, and plain code computes the scale and the mug diameter, so the number is measured rather than guessed by a language model. Every number is tappable to correct. Target accuracy is plus or minus 3 percent with the card in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Spark 1.3 turns intent plus measurements into a DesignSpec: parts, joints, engraving, sheet and material. The model never emits coordinates; a deterministic generator builds the geometry. Assumptions such as coaster equals mug base plus 13 millimetres sit on the plan card so Dev can correct them. Muse Image cleans the pencil sketch into three engraving-ready variants and Dev picks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it. Muse Image renders the finished object from ordered references: the chosen art, a birch material swatch and an optional scene. It is always labelled as an AI preview. Make it opens the canvas with real parts nested on the sheet, engrave in ink and cut in vermillion, and Spark maps voice edits like make the walls 5 millimetres taller to canvas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 it. The existing G-code generator runs with the device and material preset; engraving runs before cutting. Burn Watch uses SAM 3.1 video tracking and Spark 1.3 to flag flare-ups, heavy smoke, a shifted workpiece or an incomplete cut. In Phase 1 it runs on a recorded clip; it is always advisory and never claims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can open Under the hood at any point: every model call with its purpose, latency and cost, exportable as JSON for the white paper. The PRD’s cost model puts a hero session at about 13 cents, so 150 dollars of hackathon credit covers about a thousand sessions. All Meta calls go through the server, with budget caps and a kill switch, and the first-run gate covers the invite code, the 18-plus terms, laser safety and the free-credit media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needs a different kind of intelligence, and each Meta model does the one it is best at. Voice Transcribe listens, Spark sees and reasons, SAM traces, Muse Image imagines, Wonder runs long batch jobs in the background and Glimmer is the offline copilot. Plain code does everything that must be exact. The implementation itself is driven by Muse Code from the PRD.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days, each ending with a short recorded clip that becomes raw material for the video. Day 4 is the feature freeze: the whole hero journey must run end to end. Days 5 and 6 add Burn Watch, the Wonder batch job and polish, day 7 is real burns and filming, day 8 is the story, and we submit by noon Eastern on November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happens, the chain from voice to scene, measurement, DesignSpec, art and preview, canvas, G-code and the under-the-hood view ships, because that chain is the pitch. If we fall behind we cut from the top of the list. The risks to watch are measurement accuracy, scope in nine days, and whether non-Meta components such as browser speech and potrace are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finished coasters next to the original sketch. Six Meta models, one workshop buddy: from what you see and say to something you can hold. Submission is due by noon Eastern on November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669455"/>
            <a:ext cx="5613400" cy="960041"/>
          </a:xfrm>
          <a:prstGeom prst="rect">
            <a:avLst/>
          </a:prstGeom>
          <a:noFill/>
          <a:ln/>
        </p:spPr>
        <p:txBody>
          <a:bodyPr wrap="square" lIns="0" tIns="0" rIns="0" bIns="0" rtlCol="0" anchor="t"/>
          <a:lstStyle>
            <a:lvl1pPr algn="l" indent="0" marL="0">
              <a:lnSpc>
                <a:spcPct val="115000"/>
              </a:lnSpc>
              <a:buNone/>
              <a:defRPr lang="en-US" sz="3600" dirty="0">
                <a:solidFill>
                  <a:srgbClr val="1F1916"/>
                </a:solidFill>
                <a:latin typeface="Fraunces" pitchFamily="34" charset="0"/>
                <a:ea typeface="Fraunces" pitchFamily="34" charset="-122"/>
                <a:cs typeface="Fraunce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934295"/>
            <a:ext cx="10566400" cy="3110905"/>
          </a:xfrm>
          <a:prstGeom prst="rect">
            <a:avLst/>
          </a:prstGeom>
          <a:noFill/>
          <a:ln/>
        </p:spPr>
        <p:txBody>
          <a:bodyPr wrap="square" lIns="0" tIns="0" rIns="0" bIns="0" rtlCol="0" anchor="t"/>
          <a:lstStyle>
            <a:lvl1pPr algn="l" indent="0" marL="0">
              <a:lnSpc>
                <a:spcPct val="140000"/>
              </a:lnSpc>
              <a:buNone/>
              <a:defRPr lang="en-US" sz="1600" dirty="0">
                <a:solidFill>
                  <a:srgbClr val="1F1916"/>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669455"/>
            <a:ext cx="5613400" cy="960041"/>
          </a:xfrm>
          <a:prstGeom prst="rect">
            <a:avLst/>
          </a:prstGeom>
          <a:noFill/>
          <a:ln/>
        </p:spPr>
        <p:txBody>
          <a:bodyPr wrap="square" lIns="0" tIns="0" rIns="0" bIns="0" rtlCol="0" anchor="t"/>
          <a:lstStyle>
            <a:lvl1pPr algn="l" indent="0" marL="0">
              <a:lnSpc>
                <a:spcPct val="115000"/>
              </a:lnSpc>
              <a:buNone/>
              <a:defRPr lang="en-US" sz="3600" dirty="0">
                <a:solidFill>
                  <a:srgbClr val="1F1916"/>
                </a:solidFill>
                <a:latin typeface="Fraunces" pitchFamily="34" charset="0"/>
                <a:ea typeface="Fraunces" pitchFamily="34" charset="-122"/>
                <a:cs typeface="Fraunce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934295"/>
            <a:ext cx="10566400" cy="3110905"/>
          </a:xfrm>
          <a:prstGeom prst="rect">
            <a:avLst/>
          </a:prstGeom>
          <a:noFill/>
          <a:ln/>
        </p:spPr>
        <p:txBody>
          <a:bodyPr wrap="square" lIns="0" tIns="0" rIns="0" bIns="0" rtlCol="0" anchor="t"/>
          <a:lstStyle>
            <a:lvl1pPr algn="l" indent="0" marL="0">
              <a:lnSpc>
                <a:spcPct val="140000"/>
              </a:lnSpc>
              <a:buNone/>
              <a:defRPr lang="en-US" sz="1600" dirty="0">
                <a:solidFill>
                  <a:srgbClr val="1F1916"/>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1358702"/>
            <a:ext cx="599109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BURN-E · SNAP → MAKE · PHASE 1</a:t>
            </a:r>
            <a:endParaRPr lang="en-US" sz="1200" dirty="0"/>
          </a:p>
        </p:txBody>
      </p:sp>
      <p:sp>
        <p:nvSpPr>
          <p:cNvPr id="3" name="Text 1"/>
          <p:cNvSpPr/>
          <p:nvPr>
            <p:ph type="title"/>
          </p:nvPr>
        </p:nvSpPr>
        <p:spPr>
          <a:xfrm>
            <a:off x="812800" y="1775222"/>
            <a:ext cx="5991098" cy="2489696"/>
          </a:xfrm>
          <a:prstGeom prst="rect">
            <a:avLst/>
          </a:prstGeom>
          <a:noFill/>
          <a:ln/>
        </p:spPr>
        <p:txBody>
          <a:bodyPr wrap="square" lIns="0" tIns="0" rIns="0" bIns="0" rtlCol="0" anchor="t">
            <a:normAutofit/>
          </a:bodyPr>
          <a:lstStyle/>
          <a:p>
            <a:pPr algn="l" indent="0" marL="0">
              <a:lnSpc>
                <a:spcPts val="6468"/>
              </a:lnSpc>
              <a:buNone/>
            </a:pPr>
            <a:r>
              <a:rPr lang="en-US" sz="6600" b="0" i="0" spc="-150" kern="0" dirty="0">
                <a:solidFill>
                  <a:srgbClr val="1F1916"/>
                </a:solidFill>
                <a:latin typeface="Fraunces" pitchFamily="18" charset="0"/>
                <a:ea typeface="Fraunces" pitchFamily="18" charset="-122"/>
                <a:cs typeface="Fraunces" pitchFamily="18" charset="-120"/>
              </a:rPr>
              <a:t>Show it.</a:t>
            </a:r>
            <a:endParaRPr lang="en-US" sz="6600" dirty="0"/>
          </a:p>
          <a:p>
            <a:pPr algn="l" indent="0" marL="0">
              <a:lnSpc>
                <a:spcPts val="6468"/>
              </a:lnSpc>
              <a:buNone/>
            </a:pPr>
            <a:r>
              <a:rPr lang="en-US" sz="6600" b="0" i="0" spc="-150" kern="0" dirty="0">
                <a:solidFill>
                  <a:srgbClr val="1F1916"/>
                </a:solidFill>
                <a:latin typeface="Fraunces" pitchFamily="18" charset="0"/>
                <a:ea typeface="Fraunces" pitchFamily="18" charset="-122"/>
                <a:cs typeface="Fraunces" pitchFamily="18" charset="-120"/>
              </a:rPr>
              <a:t>Say it.</a:t>
            </a:r>
            <a:endParaRPr lang="en-US" sz="6600" dirty="0"/>
          </a:p>
          <a:p>
            <a:pPr algn="l" indent="0" marL="0">
              <a:lnSpc>
                <a:spcPts val="6468"/>
              </a:lnSpc>
              <a:buNone/>
            </a:pPr>
            <a:r>
              <a:rPr lang="en-US" sz="6600" b="0" i="0" spc="-150" kern="0" dirty="0">
                <a:solidFill>
                  <a:srgbClr val="C25237"/>
                </a:solidFill>
                <a:latin typeface="Fraunces" pitchFamily="18" charset="0"/>
                <a:ea typeface="Fraunces" pitchFamily="18" charset="-122"/>
                <a:cs typeface="Fraunces" pitchFamily="18" charset="-120"/>
              </a:rPr>
              <a:t>Burn it.</a:t>
            </a:r>
            <a:endParaRPr lang="en-US" sz="6600" dirty="0"/>
          </a:p>
        </p:txBody>
      </p:sp>
      <p:sp>
        <p:nvSpPr>
          <p:cNvPr id="4" name="Text 2"/>
          <p:cNvSpPr/>
          <p:nvPr/>
        </p:nvSpPr>
        <p:spPr>
          <a:xfrm>
            <a:off x="812800" y="4442718"/>
            <a:ext cx="5991098"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8413D"/>
                </a:solidFill>
                <a:latin typeface="Inter" pitchFamily="34" charset="0"/>
                <a:ea typeface="Inter" pitchFamily="34" charset="-122"/>
                <a:cs typeface="Inter" pitchFamily="34" charset="-120"/>
              </a:rPr>
              <a:t>A voice-first workshop buddy that turns a photo and a sentence into a measured, cut-ready design.</a:t>
            </a:r>
            <a:endParaRPr lang="en-US" sz="1800" dirty="0"/>
          </a:p>
        </p:txBody>
      </p:sp>
      <p:sp>
        <p:nvSpPr>
          <p:cNvPr id="5" name="Text 3"/>
          <p:cNvSpPr/>
          <p:nvPr/>
        </p:nvSpPr>
        <p:spPr>
          <a:xfrm>
            <a:off x="812800" y="5285978"/>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Meta Global AI Developer Hackathon · Oct 26 – Nov 4, 2026</a:t>
            </a:r>
            <a:endParaRPr lang="en-US" sz="1200" dirty="0"/>
          </a:p>
        </p:txBody>
      </p:sp>
      <p:pic>
        <p:nvPicPr>
          <p:cNvPr id="6" name="Image 0" descr="Workshop screen: Burn-E listening, with a large push-to-talk mic button">    </p:cNvPr>
          <p:cNvPicPr>
            <a:picLocks noChangeAspect="1"/>
          </p:cNvPicPr>
          <p:nvPr/>
        </p:nvPicPr>
        <p:blipFill>
          <a:blip r:embed="rId1"/>
          <a:srcRect l="1731" r="1731" t="0" b="0"/>
          <a:stretch/>
        </p:blipFill>
        <p:spPr>
          <a:xfrm>
            <a:off x="7099300" y="12795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7" name="Shape 4"/>
          <p:cNvSpPr/>
          <p:nvPr/>
        </p:nvSpPr>
        <p:spPr>
          <a:xfrm>
            <a:off x="7067550" y="1247775"/>
            <a:ext cx="1981200" cy="4362450"/>
          </a:xfrm>
          <a:prstGeom prst="roundRect">
            <a:avLst>
              <a:gd name="adj" fmla="val 12500"/>
            </a:avLst>
          </a:prstGeom>
          <a:noFill/>
          <a:ln w="63500">
            <a:solidFill>
              <a:srgbClr val="1F1916"/>
            </a:solidFill>
            <a:prstDash val="solid"/>
          </a:ln>
        </p:spPr>
      </p:sp>
      <p:pic>
        <p:nvPicPr>
          <p:cNvPr id="8" name="Image 1" descr="Scene screen: the bench photo with glowing outlines and a measured mug diameter of 82 mm">    </p:cNvPr>
          <p:cNvPicPr>
            <a:picLocks noChangeAspect="1"/>
          </p:cNvPicPr>
          <p:nvPr/>
        </p:nvPicPr>
        <p:blipFill>
          <a:blip r:embed="rId2"/>
          <a:srcRect l="1731" r="1731" t="0" b="0"/>
          <a:stretch/>
        </p:blipFill>
        <p:spPr>
          <a:xfrm>
            <a:off x="9398000" y="12795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9" name="Shape 5"/>
          <p:cNvSpPr/>
          <p:nvPr/>
        </p:nvSpPr>
        <p:spPr>
          <a:xfrm>
            <a:off x="9366250" y="1247775"/>
            <a:ext cx="1981200" cy="4362450"/>
          </a:xfrm>
          <a:prstGeom prst="roundRect">
            <a:avLst>
              <a:gd name="adj" fmla="val 12500"/>
            </a:avLst>
          </a:prstGeom>
          <a:noFill/>
          <a:ln w="63500">
            <a:solidFill>
              <a:srgbClr val="1F191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78520"/>
            <a:ext cx="10883392" cy="985441"/>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Millions own a laser or a Cricut.</a:t>
            </a:r>
            <a:endParaRPr lang="en-US" sz="3600" dirty="0"/>
          </a:p>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The design step is the wall.</a:t>
            </a:r>
            <a:endParaRPr lang="en-US" sz="3600" dirty="0"/>
          </a:p>
        </p:txBody>
      </p:sp>
      <p:sp>
        <p:nvSpPr>
          <p:cNvPr id="4" name="Shape 2"/>
          <p:cNvSpPr/>
          <p:nvPr/>
        </p:nvSpPr>
        <p:spPr>
          <a:xfrm>
            <a:off x="815975" y="2548136"/>
            <a:ext cx="2482850" cy="2254052"/>
          </a:xfrm>
          <a:prstGeom prst="roundRect">
            <a:avLst>
              <a:gd name="adj" fmla="val 5493"/>
            </a:avLst>
          </a:prstGeom>
          <a:solidFill>
            <a:srgbClr val="F3F0E9"/>
          </a:solidFill>
          <a:ln w="6350">
            <a:solidFill>
              <a:srgbClr val="DCD7CD"/>
            </a:solidFill>
            <a:prstDash val="solid"/>
          </a:ln>
        </p:spPr>
      </p:sp>
      <p:sp>
        <p:nvSpPr>
          <p:cNvPr id="5" name="Text 3"/>
          <p:cNvSpPr/>
          <p:nvPr/>
        </p:nvSpPr>
        <p:spPr>
          <a:xfrm>
            <a:off x="1073150" y="28053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73150" y="3120231"/>
            <a:ext cx="2027555"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F1916"/>
                </a:solidFill>
                <a:latin typeface="Fraunces" pitchFamily="18" charset="0"/>
                <a:ea typeface="Fraunces" pitchFamily="18" charset="-122"/>
                <a:cs typeface="Fraunces" pitchFamily="18" charset="-120"/>
              </a:rPr>
              <a:t>Measure</a:t>
            </a:r>
            <a:endParaRPr lang="en-US" sz="2000" dirty="0"/>
          </a:p>
        </p:txBody>
      </p:sp>
      <p:sp>
        <p:nvSpPr>
          <p:cNvPr id="7" name="Text 5"/>
          <p:cNvSpPr/>
          <p:nvPr/>
        </p:nvSpPr>
        <p:spPr>
          <a:xfrm>
            <a:off x="1073150" y="3513931"/>
            <a:ext cx="2027555"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8413D"/>
                </a:solidFill>
                <a:latin typeface="Inter" pitchFamily="34" charset="0"/>
                <a:ea typeface="Inter" pitchFamily="34" charset="-122"/>
                <a:cs typeface="Inter" pitchFamily="34" charset="-120"/>
              </a:rPr>
              <a:t>Carrying the mug, the shelf gap or the phone into a vector editor by hand.</a:t>
            </a:r>
            <a:endParaRPr lang="en-US" sz="1400" dirty="0"/>
          </a:p>
        </p:txBody>
      </p:sp>
      <p:sp>
        <p:nvSpPr>
          <p:cNvPr id="8" name="Shape 6"/>
          <p:cNvSpPr/>
          <p:nvPr/>
        </p:nvSpPr>
        <p:spPr>
          <a:xfrm>
            <a:off x="3508375" y="2548136"/>
            <a:ext cx="2482850" cy="2254052"/>
          </a:xfrm>
          <a:prstGeom prst="roundRect">
            <a:avLst>
              <a:gd name="adj" fmla="val 5493"/>
            </a:avLst>
          </a:prstGeom>
          <a:solidFill>
            <a:srgbClr val="F3F0E9"/>
          </a:solidFill>
          <a:ln w="6350">
            <a:solidFill>
              <a:srgbClr val="DCD7CD"/>
            </a:solidFill>
            <a:prstDash val="solid"/>
          </a:ln>
        </p:spPr>
      </p:sp>
      <p:sp>
        <p:nvSpPr>
          <p:cNvPr id="9" name="Text 7"/>
          <p:cNvSpPr/>
          <p:nvPr/>
        </p:nvSpPr>
        <p:spPr>
          <a:xfrm>
            <a:off x="3765550" y="28053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65550" y="3120231"/>
            <a:ext cx="2027555"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F1916"/>
                </a:solidFill>
                <a:latin typeface="Fraunces" pitchFamily="18" charset="0"/>
                <a:ea typeface="Fraunces" pitchFamily="18" charset="-122"/>
                <a:cs typeface="Fraunces" pitchFamily="18" charset="-120"/>
              </a:rPr>
              <a:t>Trace</a:t>
            </a:r>
            <a:endParaRPr lang="en-US" sz="2000" dirty="0"/>
          </a:p>
        </p:txBody>
      </p:sp>
      <p:sp>
        <p:nvSpPr>
          <p:cNvPr id="11" name="Text 9"/>
          <p:cNvSpPr/>
          <p:nvPr/>
        </p:nvSpPr>
        <p:spPr>
          <a:xfrm>
            <a:off x="3765550" y="3513931"/>
            <a:ext cx="2027555"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8413D"/>
                </a:solidFill>
                <a:latin typeface="Inter" pitchFamily="34" charset="0"/>
                <a:ea typeface="Inter" pitchFamily="34" charset="-122"/>
                <a:cs typeface="Inter" pitchFamily="34" charset="-120"/>
              </a:rPr>
              <a:t>Hand sketches redrawn point by point, or fed to brittle auto-trace.</a:t>
            </a:r>
            <a:endParaRPr lang="en-US" sz="1400" dirty="0"/>
          </a:p>
        </p:txBody>
      </p:sp>
      <p:sp>
        <p:nvSpPr>
          <p:cNvPr id="12" name="Shape 10"/>
          <p:cNvSpPr/>
          <p:nvPr/>
        </p:nvSpPr>
        <p:spPr>
          <a:xfrm>
            <a:off x="6200775" y="2548136"/>
            <a:ext cx="2482850" cy="2254052"/>
          </a:xfrm>
          <a:prstGeom prst="roundRect">
            <a:avLst>
              <a:gd name="adj" fmla="val 5493"/>
            </a:avLst>
          </a:prstGeom>
          <a:solidFill>
            <a:srgbClr val="F3F0E9"/>
          </a:solidFill>
          <a:ln w="6350">
            <a:solidFill>
              <a:srgbClr val="DCD7CD"/>
            </a:solidFill>
            <a:prstDash val="solid"/>
          </a:ln>
        </p:spPr>
      </p:sp>
      <p:sp>
        <p:nvSpPr>
          <p:cNvPr id="13" name="Text 11"/>
          <p:cNvSpPr/>
          <p:nvPr/>
        </p:nvSpPr>
        <p:spPr>
          <a:xfrm>
            <a:off x="6457950" y="28053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457950" y="3120231"/>
            <a:ext cx="2027555"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F1916"/>
                </a:solidFill>
                <a:latin typeface="Fraunces" pitchFamily="18" charset="0"/>
                <a:ea typeface="Fraunces" pitchFamily="18" charset="-122"/>
                <a:cs typeface="Fraunces" pitchFamily="18" charset="-120"/>
              </a:rPr>
              <a:t>Imagine</a:t>
            </a:r>
            <a:endParaRPr lang="en-US" sz="2000" dirty="0"/>
          </a:p>
        </p:txBody>
      </p:sp>
      <p:sp>
        <p:nvSpPr>
          <p:cNvPr id="15" name="Text 13"/>
          <p:cNvSpPr/>
          <p:nvPr/>
        </p:nvSpPr>
        <p:spPr>
          <a:xfrm>
            <a:off x="6457950" y="3513931"/>
            <a:ext cx="202755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8413D"/>
                </a:solidFill>
                <a:latin typeface="Inter" pitchFamily="34" charset="0"/>
                <a:ea typeface="Inter" pitchFamily="34" charset="-122"/>
                <a:cs typeface="Inter" pitchFamily="34" charset="-120"/>
              </a:rPr>
              <a:t>No idea how it will look until real material is burned.</a:t>
            </a:r>
            <a:endParaRPr lang="en-US" sz="1400" dirty="0"/>
          </a:p>
        </p:txBody>
      </p:sp>
      <p:sp>
        <p:nvSpPr>
          <p:cNvPr id="16" name="Shape 14"/>
          <p:cNvSpPr/>
          <p:nvPr/>
        </p:nvSpPr>
        <p:spPr>
          <a:xfrm>
            <a:off x="8893175" y="2548136"/>
            <a:ext cx="2482850" cy="2254052"/>
          </a:xfrm>
          <a:prstGeom prst="roundRect">
            <a:avLst>
              <a:gd name="adj" fmla="val 5493"/>
            </a:avLst>
          </a:prstGeom>
          <a:solidFill>
            <a:srgbClr val="F3F0E9"/>
          </a:solidFill>
          <a:ln w="6350">
            <a:solidFill>
              <a:srgbClr val="DCD7CD"/>
            </a:solidFill>
            <a:prstDash val="solid"/>
          </a:ln>
        </p:spPr>
      </p:sp>
      <p:sp>
        <p:nvSpPr>
          <p:cNvPr id="17" name="Text 15"/>
          <p:cNvSpPr/>
          <p:nvPr/>
        </p:nvSpPr>
        <p:spPr>
          <a:xfrm>
            <a:off x="9150350" y="28053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150350" y="3120231"/>
            <a:ext cx="2027555"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1F1916"/>
                </a:solidFill>
                <a:latin typeface="Fraunces" pitchFamily="18" charset="0"/>
                <a:ea typeface="Fraunces" pitchFamily="18" charset="-122"/>
                <a:cs typeface="Fraunces" pitchFamily="18" charset="-120"/>
              </a:rPr>
              <a:t>Watch</a:t>
            </a:r>
            <a:endParaRPr lang="en-US" sz="2000" dirty="0"/>
          </a:p>
        </p:txBody>
      </p:sp>
      <p:sp>
        <p:nvSpPr>
          <p:cNvPr id="19" name="Text 17"/>
          <p:cNvSpPr/>
          <p:nvPr/>
        </p:nvSpPr>
        <p:spPr>
          <a:xfrm>
            <a:off x="9150350" y="3513931"/>
            <a:ext cx="202755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8413D"/>
                </a:solidFill>
                <a:latin typeface="Inter" pitchFamily="34" charset="0"/>
                <a:ea typeface="Inter" pitchFamily="34" charset="-122"/>
                <a:cs typeface="Inter" pitchFamily="34" charset="-120"/>
              </a:rPr>
              <a:t>Burns run unattended; flare-ups and missed cuts are found too late.</a:t>
            </a:r>
            <a:endParaRPr lang="en-US" sz="1400" dirty="0"/>
          </a:p>
        </p:txBody>
      </p:sp>
      <p:sp>
        <p:nvSpPr>
          <p:cNvPr id="20" name="Text 18"/>
          <p:cNvSpPr/>
          <p:nvPr/>
        </p:nvSpPr>
        <p:spPr>
          <a:xfrm>
            <a:off x="812800" y="521176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8413D"/>
                </a:solidFill>
                <a:latin typeface="Inter" pitchFamily="34" charset="0"/>
                <a:ea typeface="Inter" pitchFamily="34" charset="-122"/>
                <a:cs typeface="Inter" pitchFamily="34" charset="-120"/>
              </a:rPr>
              <a:t>So most machines cut the same downloaded templates — and many sit idle.</a:t>
            </a:r>
            <a:endParaRPr lang="en-US" sz="16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9"/>
        </a:solidFill>
      </p:bgPr>
    </p:bg>
    <p:spTree>
      <p:nvGrpSpPr>
        <p:cNvPr id="1" name=""/>
        <p:cNvGrpSpPr/>
        <p:nvPr/>
      </p:nvGrpSpPr>
      <p:grpSpPr>
        <a:xfrm>
          <a:off x="0" y="0"/>
          <a:ext cx="0" cy="0"/>
          <a:chOff x="0" y="0"/>
          <a:chExt cx="0" cy="0"/>
        </a:xfrm>
      </p:grpSpPr>
      <p:sp>
        <p:nvSpPr>
          <p:cNvPr id="2" name="Text 0"/>
          <p:cNvSpPr/>
          <p:nvPr/>
        </p:nvSpPr>
        <p:spPr>
          <a:xfrm>
            <a:off x="812800" y="711200"/>
            <a:ext cx="59957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THE HERO JOURNEY</a:t>
            </a:r>
            <a:endParaRPr lang="en-US" sz="1200" dirty="0"/>
          </a:p>
        </p:txBody>
      </p:sp>
      <p:sp>
        <p:nvSpPr>
          <p:cNvPr id="3" name="Text 1"/>
          <p:cNvSpPr/>
          <p:nvPr>
            <p:ph type="title"/>
          </p:nvPr>
        </p:nvSpPr>
        <p:spPr>
          <a:xfrm>
            <a:off x="812800" y="1051520"/>
            <a:ext cx="6985337" cy="505420"/>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Coasters for Maya, in four beats.</a:t>
            </a:r>
            <a:endParaRPr lang="en-US" sz="3600" dirty="0"/>
          </a:p>
        </p:txBody>
      </p:sp>
      <p:sp>
        <p:nvSpPr>
          <p:cNvPr id="4" name="Text 2"/>
          <p:cNvSpPr/>
          <p:nvPr/>
        </p:nvSpPr>
        <p:spPr>
          <a:xfrm>
            <a:off x="9184630" y="1318220"/>
            <a:ext cx="226040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10 screens · under 5 min</a:t>
            </a:r>
            <a:endParaRPr lang="en-US" sz="1200" dirty="0"/>
          </a:p>
        </p:txBody>
      </p:sp>
      <p:sp>
        <p:nvSpPr>
          <p:cNvPr id="5" name="Text 3"/>
          <p:cNvSpPr/>
          <p:nvPr/>
        </p:nvSpPr>
        <p:spPr>
          <a:xfrm>
            <a:off x="812800" y="1785541"/>
            <a:ext cx="1316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01 · SHOW IT</a:t>
            </a:r>
            <a:endParaRPr lang="en-US" sz="1200" dirty="0"/>
          </a:p>
        </p:txBody>
      </p:sp>
      <p:pic>
        <p:nvPicPr>
          <p:cNvPr id="6" name="Image 0" descr="Snap screen: camera viewfinder over a sketch, mug and credit card">    </p:cNvPr>
          <p:cNvPicPr>
            <a:picLocks noChangeAspect="1"/>
          </p:cNvPicPr>
          <p:nvPr/>
        </p:nvPicPr>
        <p:blipFill>
          <a:blip r:embed="rId1"/>
          <a:srcRect l="2130" r="2130" t="0" b="0"/>
          <a:stretch/>
        </p:blipFill>
        <p:spPr>
          <a:xfrm>
            <a:off x="863600" y="2151261"/>
            <a:ext cx="1219200" cy="2755900"/>
          </a:xfrm>
          <a:prstGeom prst="roundRect">
            <a:avLst>
              <a:gd name="adj" fmla="val 12500"/>
            </a:avLst>
          </a:prstGeom>
        </p:spPr>
      </p:pic>
      <p:sp>
        <p:nvSpPr>
          <p:cNvPr id="7" name="Shape 4"/>
          <p:cNvSpPr/>
          <p:nvPr/>
        </p:nvSpPr>
        <p:spPr>
          <a:xfrm>
            <a:off x="838200" y="2125861"/>
            <a:ext cx="1270000" cy="2806700"/>
          </a:xfrm>
          <a:prstGeom prst="roundRect">
            <a:avLst>
              <a:gd name="adj" fmla="val 14000"/>
            </a:avLst>
          </a:prstGeom>
          <a:noFill/>
          <a:ln w="50800">
            <a:solidFill>
              <a:srgbClr val="1F1916"/>
            </a:solidFill>
            <a:prstDash val="solid"/>
          </a:ln>
        </p:spPr>
      </p:sp>
      <p:sp>
        <p:nvSpPr>
          <p:cNvPr id="8" name="Text 5"/>
          <p:cNvSpPr/>
          <p:nvPr/>
        </p:nvSpPr>
        <p:spPr>
          <a:xfrm>
            <a:off x="812800" y="505956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One photo of the bench; masks measure it.</a:t>
            </a:r>
            <a:endParaRPr lang="en-US" sz="1400" dirty="0"/>
          </a:p>
        </p:txBody>
      </p:sp>
      <p:sp>
        <p:nvSpPr>
          <p:cNvPr id="9" name="Text 6"/>
          <p:cNvSpPr/>
          <p:nvPr/>
        </p:nvSpPr>
        <p:spPr>
          <a:xfrm>
            <a:off x="3505200" y="1785541"/>
            <a:ext cx="12069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02 · SAY IT</a:t>
            </a:r>
            <a:endParaRPr lang="en-US" sz="1200" dirty="0"/>
          </a:p>
        </p:txBody>
      </p:sp>
      <p:pic>
        <p:nvPicPr>
          <p:cNvPr id="10" name="Image 1" descr="Build plan screen: exploded coasters and holder with a parts list">    </p:cNvPr>
          <p:cNvPicPr>
            <a:picLocks noChangeAspect="1"/>
          </p:cNvPicPr>
          <p:nvPr/>
        </p:nvPicPr>
        <p:blipFill>
          <a:blip r:embed="rId2"/>
          <a:srcRect l="2130" r="2130" t="0" b="0"/>
          <a:stretch/>
        </p:blipFill>
        <p:spPr>
          <a:xfrm>
            <a:off x="3556000" y="2151261"/>
            <a:ext cx="1219200" cy="2755900"/>
          </a:xfrm>
          <a:prstGeom prst="roundRect">
            <a:avLst>
              <a:gd name="adj" fmla="val 12500"/>
            </a:avLst>
          </a:prstGeom>
        </p:spPr>
      </p:pic>
      <p:sp>
        <p:nvSpPr>
          <p:cNvPr id="11" name="Shape 7"/>
          <p:cNvSpPr/>
          <p:nvPr/>
        </p:nvSpPr>
        <p:spPr>
          <a:xfrm>
            <a:off x="3530600" y="2125861"/>
            <a:ext cx="1270000" cy="2806700"/>
          </a:xfrm>
          <a:prstGeom prst="roundRect">
            <a:avLst>
              <a:gd name="adj" fmla="val 14000"/>
            </a:avLst>
          </a:prstGeom>
          <a:noFill/>
          <a:ln w="50800">
            <a:solidFill>
              <a:srgbClr val="1F1916"/>
            </a:solidFill>
            <a:prstDash val="solid"/>
          </a:ln>
        </p:spPr>
      </p:sp>
      <p:sp>
        <p:nvSpPr>
          <p:cNvPr id="12" name="Text 8"/>
          <p:cNvSpPr/>
          <p:nvPr/>
        </p:nvSpPr>
        <p:spPr>
          <a:xfrm>
            <a:off x="3505200" y="505956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A spoken request becomes a parts plan.</a:t>
            </a:r>
            <a:endParaRPr lang="en-US" sz="1400" dirty="0"/>
          </a:p>
        </p:txBody>
      </p:sp>
      <p:sp>
        <p:nvSpPr>
          <p:cNvPr id="13" name="Text 9"/>
          <p:cNvSpPr/>
          <p:nvPr/>
        </p:nvSpPr>
        <p:spPr>
          <a:xfrm>
            <a:off x="6197600" y="1785541"/>
            <a:ext cx="12069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03 · SEE IT</a:t>
            </a:r>
            <a:endParaRPr lang="en-US" sz="1200" dirty="0"/>
          </a:p>
        </p:txBody>
      </p:sp>
      <p:pic>
        <p:nvPicPr>
          <p:cNvPr id="14" name="Image 2" descr="Preview screen: AI preview of engraved birch coasters in a holder">    </p:cNvPr>
          <p:cNvPicPr>
            <a:picLocks noChangeAspect="1"/>
          </p:cNvPicPr>
          <p:nvPr/>
        </p:nvPicPr>
        <p:blipFill>
          <a:blip r:embed="rId3"/>
          <a:srcRect l="2130" r="2130" t="0" b="0"/>
          <a:stretch/>
        </p:blipFill>
        <p:spPr>
          <a:xfrm>
            <a:off x="6248400" y="2151261"/>
            <a:ext cx="1219200" cy="2755900"/>
          </a:xfrm>
          <a:prstGeom prst="roundRect">
            <a:avLst>
              <a:gd name="adj" fmla="val 12500"/>
            </a:avLst>
          </a:prstGeom>
        </p:spPr>
      </p:pic>
      <p:sp>
        <p:nvSpPr>
          <p:cNvPr id="15" name="Shape 10"/>
          <p:cNvSpPr/>
          <p:nvPr/>
        </p:nvSpPr>
        <p:spPr>
          <a:xfrm>
            <a:off x="6223000" y="2125861"/>
            <a:ext cx="1270000" cy="2806700"/>
          </a:xfrm>
          <a:prstGeom prst="roundRect">
            <a:avLst>
              <a:gd name="adj" fmla="val 14000"/>
            </a:avLst>
          </a:prstGeom>
          <a:noFill/>
          <a:ln w="50800">
            <a:solidFill>
              <a:srgbClr val="1F1916"/>
            </a:solidFill>
            <a:prstDash val="solid"/>
          </a:ln>
        </p:spPr>
      </p:sp>
      <p:sp>
        <p:nvSpPr>
          <p:cNvPr id="16" name="Text 11"/>
          <p:cNvSpPr/>
          <p:nvPr/>
        </p:nvSpPr>
        <p:spPr>
          <a:xfrm>
            <a:off x="6197600" y="505956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Clean art and a preview before any wood.</a:t>
            </a:r>
            <a:endParaRPr lang="en-US" sz="1400" dirty="0"/>
          </a:p>
        </p:txBody>
      </p:sp>
      <p:sp>
        <p:nvSpPr>
          <p:cNvPr id="17" name="Text 12"/>
          <p:cNvSpPr/>
          <p:nvPr/>
        </p:nvSpPr>
        <p:spPr>
          <a:xfrm>
            <a:off x="8890000" y="1785541"/>
            <a:ext cx="13167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04 · BURN IT</a:t>
            </a:r>
            <a:endParaRPr lang="en-US" sz="1200" dirty="0"/>
          </a:p>
        </p:txBody>
      </p:sp>
      <p:pic>
        <p:nvPicPr>
          <p:cNvPr id="18" name="Image 3" descr="Burn Watch screen: alert for a flare on coaster 3">    </p:cNvPr>
          <p:cNvPicPr>
            <a:picLocks noChangeAspect="1"/>
          </p:cNvPicPr>
          <p:nvPr/>
        </p:nvPicPr>
        <p:blipFill>
          <a:blip r:embed="rId4"/>
          <a:srcRect l="2130" r="2130" t="0" b="0"/>
          <a:stretch/>
        </p:blipFill>
        <p:spPr>
          <a:xfrm>
            <a:off x="8940800" y="2151261"/>
            <a:ext cx="1219200" cy="2755900"/>
          </a:xfrm>
          <a:prstGeom prst="roundRect">
            <a:avLst>
              <a:gd name="adj" fmla="val 12500"/>
            </a:avLst>
          </a:prstGeom>
        </p:spPr>
      </p:pic>
      <p:sp>
        <p:nvSpPr>
          <p:cNvPr id="19" name="Shape 13"/>
          <p:cNvSpPr/>
          <p:nvPr/>
        </p:nvSpPr>
        <p:spPr>
          <a:xfrm>
            <a:off x="8915400" y="2125861"/>
            <a:ext cx="1270000" cy="2806700"/>
          </a:xfrm>
          <a:prstGeom prst="roundRect">
            <a:avLst>
              <a:gd name="adj" fmla="val 14000"/>
            </a:avLst>
          </a:prstGeom>
          <a:noFill/>
          <a:ln w="50800">
            <a:solidFill>
              <a:srgbClr val="1F1916"/>
            </a:solidFill>
            <a:prstDash val="solid"/>
          </a:ln>
        </p:spPr>
      </p:sp>
      <p:sp>
        <p:nvSpPr>
          <p:cNvPr id="20" name="Text 14"/>
          <p:cNvSpPr/>
          <p:nvPr/>
        </p:nvSpPr>
        <p:spPr>
          <a:xfrm>
            <a:off x="8890000" y="505956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G-code out, and a second pair of eyes.</a:t>
            </a:r>
            <a:endParaRPr lang="en-US" sz="14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1278334"/>
            <a:ext cx="57818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01 · SHOW IT</a:t>
            </a:r>
            <a:endParaRPr lang="en-US" sz="1200" dirty="0"/>
          </a:p>
        </p:txBody>
      </p:sp>
      <p:sp>
        <p:nvSpPr>
          <p:cNvPr id="3" name="Text 1"/>
          <p:cNvSpPr/>
          <p:nvPr>
            <p:ph type="title"/>
          </p:nvPr>
        </p:nvSpPr>
        <p:spPr>
          <a:xfrm>
            <a:off x="812800" y="1669455"/>
            <a:ext cx="5781802" cy="985441"/>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One photo.</a:t>
            </a:r>
            <a:endParaRPr lang="en-US" sz="3600" dirty="0"/>
          </a:p>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Measured, not guessed.</a:t>
            </a:r>
            <a:endParaRPr lang="en-US" sz="3600" dirty="0"/>
          </a:p>
        </p:txBody>
      </p:sp>
      <p:sp>
        <p:nvSpPr>
          <p:cNvPr id="4" name="Text 2"/>
          <p:cNvSpPr/>
          <p:nvPr/>
        </p:nvSpPr>
        <p:spPr>
          <a:xfrm>
            <a:off x="812800" y="2807295"/>
            <a:ext cx="5781802"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8413D"/>
                </a:solidFill>
                <a:latin typeface="Inter" pitchFamily="34" charset="0"/>
                <a:ea typeface="Inter" pitchFamily="34" charset="-122"/>
                <a:cs typeface="Inter" pitchFamily="34" charset="-120"/>
              </a:rPr>
              <a:t>Dev snaps the sketch, the mug and a credit card. Burn-E names each object and outlines it, then sizes everything against the card.</a:t>
            </a:r>
            <a:endParaRPr lang="en-US" sz="1600" dirty="0"/>
          </a:p>
        </p:txBody>
      </p:sp>
      <p:sp>
        <p:nvSpPr>
          <p:cNvPr id="5" name="Shape 3"/>
          <p:cNvSpPr/>
          <p:nvPr/>
        </p:nvSpPr>
        <p:spPr>
          <a:xfrm>
            <a:off x="815975" y="3872161"/>
            <a:ext cx="5607050" cy="1501080"/>
          </a:xfrm>
          <a:prstGeom prst="roundRect">
            <a:avLst>
              <a:gd name="adj" fmla="val 8249"/>
            </a:avLst>
          </a:prstGeom>
          <a:solidFill>
            <a:srgbClr val="F3F0E9"/>
          </a:solidFill>
          <a:ln w="6350">
            <a:solidFill>
              <a:srgbClr val="DCD7CD"/>
            </a:solidFill>
            <a:prstDash val="solid"/>
          </a:ln>
        </p:spPr>
      </p:sp>
      <p:sp>
        <p:nvSpPr>
          <p:cNvPr id="6" name="Text 4"/>
          <p:cNvSpPr/>
          <p:nvPr/>
        </p:nvSpPr>
        <p:spPr>
          <a:xfrm>
            <a:off x="996950" y="4002336"/>
            <a:ext cx="975370"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Spark 1.3</a:t>
            </a:r>
            <a:endParaRPr lang="en-US" sz="1200" dirty="0"/>
          </a:p>
        </p:txBody>
      </p:sp>
      <p:sp>
        <p:nvSpPr>
          <p:cNvPr id="7" name="Text 5"/>
          <p:cNvSpPr/>
          <p:nvPr/>
        </p:nvSpPr>
        <p:spPr>
          <a:xfrm>
            <a:off x="1972320" y="4002336"/>
            <a:ext cx="407842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reads the scene: art, fit target, reference</a:t>
            </a:r>
            <a:endParaRPr lang="en-US" sz="1400" dirty="0"/>
          </a:p>
        </p:txBody>
      </p:sp>
      <p:sp>
        <p:nvSpPr>
          <p:cNvPr id="8" name="Shape 6"/>
          <p:cNvSpPr/>
          <p:nvPr/>
        </p:nvSpPr>
        <p:spPr>
          <a:xfrm>
            <a:off x="819150" y="4372521"/>
            <a:ext cx="5600700" cy="0"/>
          </a:xfrm>
          <a:prstGeom prst="line">
            <a:avLst/>
          </a:prstGeom>
          <a:noFill/>
          <a:ln w="6350">
            <a:solidFill>
              <a:srgbClr val="DCD7CD"/>
            </a:solidFill>
            <a:prstDash val="solid"/>
          </a:ln>
        </p:spPr>
      </p:sp>
      <p:sp>
        <p:nvSpPr>
          <p:cNvPr id="9" name="Text 7"/>
          <p:cNvSpPr/>
          <p:nvPr/>
        </p:nvSpPr>
        <p:spPr>
          <a:xfrm>
            <a:off x="996950" y="4502696"/>
            <a:ext cx="768132"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SAM 3.1</a:t>
            </a:r>
            <a:endParaRPr lang="en-US" sz="1200" dirty="0"/>
          </a:p>
        </p:txBody>
      </p:sp>
      <p:sp>
        <p:nvSpPr>
          <p:cNvPr id="10" name="Text 8"/>
          <p:cNvSpPr/>
          <p:nvPr/>
        </p:nvSpPr>
        <p:spPr>
          <a:xfrm>
            <a:off x="1789460" y="4502696"/>
            <a:ext cx="340649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pixel-exact masks for each object</a:t>
            </a:r>
            <a:endParaRPr lang="en-US" sz="1400" dirty="0"/>
          </a:p>
        </p:txBody>
      </p:sp>
      <p:sp>
        <p:nvSpPr>
          <p:cNvPr id="11" name="Shape 9"/>
          <p:cNvSpPr/>
          <p:nvPr/>
        </p:nvSpPr>
        <p:spPr>
          <a:xfrm>
            <a:off x="819150" y="4872881"/>
            <a:ext cx="5600700" cy="0"/>
          </a:xfrm>
          <a:prstGeom prst="line">
            <a:avLst/>
          </a:prstGeom>
          <a:noFill/>
          <a:ln w="6350">
            <a:solidFill>
              <a:srgbClr val="DCD7CD"/>
            </a:solidFill>
            <a:prstDash val="solid"/>
          </a:ln>
        </p:spPr>
      </p:sp>
      <p:sp>
        <p:nvSpPr>
          <p:cNvPr id="12" name="Text 10"/>
          <p:cNvSpPr/>
          <p:nvPr/>
        </p:nvSpPr>
        <p:spPr>
          <a:xfrm>
            <a:off x="996950" y="5003056"/>
            <a:ext cx="438924"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Code</a:t>
            </a:r>
            <a:endParaRPr lang="en-US" sz="1200" dirty="0"/>
          </a:p>
        </p:txBody>
      </p:sp>
      <p:sp>
        <p:nvSpPr>
          <p:cNvPr id="13" name="Text 11"/>
          <p:cNvSpPr/>
          <p:nvPr/>
        </p:nvSpPr>
        <p:spPr>
          <a:xfrm>
            <a:off x="1515120" y="5003056"/>
            <a:ext cx="47523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px/mm from the card → mug base Ø 82 mm ±2</a:t>
            </a:r>
            <a:endParaRPr lang="en-US" sz="1400" dirty="0"/>
          </a:p>
        </p:txBody>
      </p:sp>
      <p:pic>
        <p:nvPicPr>
          <p:cNvPr id="14" name="Image 0" descr="Snap screen with capture tips: credit card in frame, shoot from straight above">    </p:cNvPr>
          <p:cNvPicPr>
            <a:picLocks noChangeAspect="1"/>
          </p:cNvPicPr>
          <p:nvPr/>
        </p:nvPicPr>
        <p:blipFill>
          <a:blip r:embed="rId1"/>
          <a:srcRect l="1731" r="1731" t="0" b="0"/>
          <a:stretch/>
        </p:blipFill>
        <p:spPr>
          <a:xfrm>
            <a:off x="70993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5" name="Shape 12"/>
          <p:cNvSpPr/>
          <p:nvPr/>
        </p:nvSpPr>
        <p:spPr>
          <a:xfrm>
            <a:off x="7067550" y="1146175"/>
            <a:ext cx="1981200" cy="4362450"/>
          </a:xfrm>
          <a:prstGeom prst="roundRect">
            <a:avLst>
              <a:gd name="adj" fmla="val 12500"/>
            </a:avLst>
          </a:prstGeom>
          <a:noFill/>
          <a:ln w="63500">
            <a:solidFill>
              <a:srgbClr val="1F1916"/>
            </a:solidFill>
            <a:prstDash val="solid"/>
          </a:ln>
        </p:spPr>
      </p:sp>
      <p:pic>
        <p:nvPicPr>
          <p:cNvPr id="16" name="Image 1" descr="Scene screen: blue outline on the sketch, red on the mug base, amber on the card, with editable measurements">    </p:cNvPr>
          <p:cNvPicPr>
            <a:picLocks noChangeAspect="1"/>
          </p:cNvPicPr>
          <p:nvPr/>
        </p:nvPicPr>
        <p:blipFill>
          <a:blip r:embed="rId2"/>
          <a:srcRect l="1731" r="1731" t="0" b="0"/>
          <a:stretch/>
        </p:blipFill>
        <p:spPr>
          <a:xfrm>
            <a:off x="93980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7" name="Shape 13"/>
          <p:cNvSpPr/>
          <p:nvPr/>
        </p:nvSpPr>
        <p:spPr>
          <a:xfrm>
            <a:off x="9366250" y="1146175"/>
            <a:ext cx="1981200" cy="4362450"/>
          </a:xfrm>
          <a:prstGeom prst="roundRect">
            <a:avLst>
              <a:gd name="adj" fmla="val 12500"/>
            </a:avLst>
          </a:prstGeom>
          <a:noFill/>
          <a:ln w="63500">
            <a:solidFill>
              <a:srgbClr val="1F1916"/>
            </a:solidFill>
            <a:prstDash val="solid"/>
          </a:ln>
        </p:spPr>
      </p:sp>
      <p:sp>
        <p:nvSpPr>
          <p:cNvPr id="18"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04 · screens 03–04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1278334"/>
            <a:ext cx="57818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02 · SAY IT</a:t>
            </a:r>
            <a:endParaRPr lang="en-US" sz="1200" dirty="0"/>
          </a:p>
        </p:txBody>
      </p:sp>
      <p:sp>
        <p:nvSpPr>
          <p:cNvPr id="3" name="Text 1"/>
          <p:cNvSpPr/>
          <p:nvPr>
            <p:ph type="title"/>
          </p:nvPr>
        </p:nvSpPr>
        <p:spPr>
          <a:xfrm>
            <a:off x="812800" y="1669455"/>
            <a:ext cx="5781802" cy="985441"/>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A sentence becomes a parts plan.</a:t>
            </a:r>
            <a:endParaRPr lang="en-US" sz="3600" dirty="0"/>
          </a:p>
        </p:txBody>
      </p:sp>
      <p:sp>
        <p:nvSpPr>
          <p:cNvPr id="4" name="Text 2"/>
          <p:cNvSpPr/>
          <p:nvPr/>
        </p:nvSpPr>
        <p:spPr>
          <a:xfrm>
            <a:off x="812800" y="2807295"/>
            <a:ext cx="5781802"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8413D"/>
                </a:solidFill>
                <a:latin typeface="Inter" pitchFamily="34" charset="0"/>
                <a:ea typeface="Inter" pitchFamily="34" charset="-122"/>
                <a:cs typeface="Inter" pitchFamily="34" charset="-120"/>
              </a:rPr>
              <a:t>“Four coasters, a bit bigger than the mug, 3 mm birch, with a finger-joint holder.” Six parts, one sheet — with every assumption shown and editable.</a:t>
            </a:r>
            <a:endParaRPr lang="en-US" sz="1600" dirty="0"/>
          </a:p>
        </p:txBody>
      </p:sp>
      <p:sp>
        <p:nvSpPr>
          <p:cNvPr id="5" name="Shape 3"/>
          <p:cNvSpPr/>
          <p:nvPr/>
        </p:nvSpPr>
        <p:spPr>
          <a:xfrm>
            <a:off x="815975" y="3872161"/>
            <a:ext cx="5607050" cy="1501080"/>
          </a:xfrm>
          <a:prstGeom prst="roundRect">
            <a:avLst>
              <a:gd name="adj" fmla="val 8249"/>
            </a:avLst>
          </a:prstGeom>
          <a:solidFill>
            <a:srgbClr val="F3F0E9"/>
          </a:solidFill>
          <a:ln w="6350">
            <a:solidFill>
              <a:srgbClr val="DCD7CD"/>
            </a:solidFill>
            <a:prstDash val="solid"/>
          </a:ln>
        </p:spPr>
      </p:sp>
      <p:sp>
        <p:nvSpPr>
          <p:cNvPr id="6" name="Text 4"/>
          <p:cNvSpPr/>
          <p:nvPr/>
        </p:nvSpPr>
        <p:spPr>
          <a:xfrm>
            <a:off x="996950" y="4002336"/>
            <a:ext cx="975370"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Spark 1.3</a:t>
            </a:r>
            <a:endParaRPr lang="en-US" sz="1200" dirty="0"/>
          </a:p>
        </p:txBody>
      </p:sp>
      <p:sp>
        <p:nvSpPr>
          <p:cNvPr id="7" name="Text 5"/>
          <p:cNvSpPr/>
          <p:nvPr/>
        </p:nvSpPr>
        <p:spPr>
          <a:xfrm>
            <a:off x="1972320" y="4002336"/>
            <a:ext cx="444753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picks templates and writes a strict DesignSpec</a:t>
            </a:r>
            <a:endParaRPr lang="en-US" sz="1400" dirty="0"/>
          </a:p>
        </p:txBody>
      </p:sp>
      <p:sp>
        <p:nvSpPr>
          <p:cNvPr id="8" name="Shape 6"/>
          <p:cNvSpPr/>
          <p:nvPr/>
        </p:nvSpPr>
        <p:spPr>
          <a:xfrm>
            <a:off x="819150" y="4372521"/>
            <a:ext cx="5600700" cy="0"/>
          </a:xfrm>
          <a:prstGeom prst="line">
            <a:avLst/>
          </a:prstGeom>
          <a:noFill/>
          <a:ln w="6350">
            <a:solidFill>
              <a:srgbClr val="DCD7CD"/>
            </a:solidFill>
            <a:prstDash val="solid"/>
          </a:ln>
        </p:spPr>
      </p:sp>
      <p:sp>
        <p:nvSpPr>
          <p:cNvPr id="9" name="Text 7"/>
          <p:cNvSpPr/>
          <p:nvPr/>
        </p:nvSpPr>
        <p:spPr>
          <a:xfrm>
            <a:off x="996950" y="4502696"/>
            <a:ext cx="438924"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Code</a:t>
            </a:r>
            <a:endParaRPr lang="en-US" sz="1200" dirty="0"/>
          </a:p>
        </p:txBody>
      </p:sp>
      <p:sp>
        <p:nvSpPr>
          <p:cNvPr id="10" name="Text 8"/>
          <p:cNvSpPr/>
          <p:nvPr/>
        </p:nvSpPr>
        <p:spPr>
          <a:xfrm>
            <a:off x="1515120" y="4502696"/>
            <a:ext cx="42602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builds exact geometry, joints, kerf, nesting</a:t>
            </a:r>
            <a:endParaRPr lang="en-US" sz="1400" dirty="0"/>
          </a:p>
        </p:txBody>
      </p:sp>
      <p:sp>
        <p:nvSpPr>
          <p:cNvPr id="11" name="Shape 9"/>
          <p:cNvSpPr/>
          <p:nvPr/>
        </p:nvSpPr>
        <p:spPr>
          <a:xfrm>
            <a:off x="819150" y="4872881"/>
            <a:ext cx="5600700" cy="0"/>
          </a:xfrm>
          <a:prstGeom prst="line">
            <a:avLst/>
          </a:prstGeom>
          <a:noFill/>
          <a:ln w="6350">
            <a:solidFill>
              <a:srgbClr val="DCD7CD"/>
            </a:solidFill>
            <a:prstDash val="solid"/>
          </a:ln>
        </p:spPr>
      </p:sp>
      <p:sp>
        <p:nvSpPr>
          <p:cNvPr id="12" name="Text 10"/>
          <p:cNvSpPr/>
          <p:nvPr/>
        </p:nvSpPr>
        <p:spPr>
          <a:xfrm>
            <a:off x="996950" y="5003056"/>
            <a:ext cx="1066800"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Muse Image</a:t>
            </a:r>
            <a:endParaRPr lang="en-US" sz="1200" dirty="0"/>
          </a:p>
        </p:txBody>
      </p:sp>
      <p:sp>
        <p:nvSpPr>
          <p:cNvPr id="13" name="Text 11"/>
          <p:cNvSpPr/>
          <p:nvPr/>
        </p:nvSpPr>
        <p:spPr>
          <a:xfrm>
            <a:off x="2063750" y="5003056"/>
            <a:ext cx="43561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cleans the sketch into three laser-friendly takes</a:t>
            </a:r>
            <a:endParaRPr lang="en-US" sz="1400" dirty="0"/>
          </a:p>
        </p:txBody>
      </p:sp>
      <p:pic>
        <p:nvPicPr>
          <p:cNvPr id="14" name="Image 0" descr="Build plan screen: exploded view, parts list, sheet fit 1 of 1 and editable assumptions">    </p:cNvPr>
          <p:cNvPicPr>
            <a:picLocks noChangeAspect="1"/>
          </p:cNvPicPr>
          <p:nvPr/>
        </p:nvPicPr>
        <p:blipFill>
          <a:blip r:embed="rId1"/>
          <a:srcRect l="1731" r="1731" t="0" b="0"/>
          <a:stretch/>
        </p:blipFill>
        <p:spPr>
          <a:xfrm>
            <a:off x="70993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5" name="Shape 12"/>
          <p:cNvSpPr/>
          <p:nvPr/>
        </p:nvSpPr>
        <p:spPr>
          <a:xfrm>
            <a:off x="7067550" y="1146175"/>
            <a:ext cx="1981200" cy="4362450"/>
          </a:xfrm>
          <a:prstGeom prst="roundRect">
            <a:avLst>
              <a:gd name="adj" fmla="val 12500"/>
            </a:avLst>
          </a:prstGeom>
          <a:noFill/>
          <a:ln w="63500">
            <a:solidFill>
              <a:srgbClr val="1F1916"/>
            </a:solidFill>
            <a:prstDash val="solid"/>
          </a:ln>
        </p:spPr>
      </p:sp>
      <p:pic>
        <p:nvPicPr>
          <p:cNvPr id="16" name="Image 1" descr="Art picker screen: three cleaned-up versions of the M logo on birch, take 2 selected">    </p:cNvPr>
          <p:cNvPicPr>
            <a:picLocks noChangeAspect="1"/>
          </p:cNvPicPr>
          <p:nvPr/>
        </p:nvPicPr>
        <p:blipFill>
          <a:blip r:embed="rId2"/>
          <a:srcRect l="1731" r="1731" t="0" b="0"/>
          <a:stretch/>
        </p:blipFill>
        <p:spPr>
          <a:xfrm>
            <a:off x="93980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7" name="Shape 13"/>
          <p:cNvSpPr/>
          <p:nvPr/>
        </p:nvSpPr>
        <p:spPr>
          <a:xfrm>
            <a:off x="9366250" y="1146175"/>
            <a:ext cx="1981200" cy="4362450"/>
          </a:xfrm>
          <a:prstGeom prst="roundRect">
            <a:avLst>
              <a:gd name="adj" fmla="val 12500"/>
            </a:avLst>
          </a:prstGeom>
          <a:noFill/>
          <a:ln w="63500">
            <a:solidFill>
              <a:srgbClr val="1F1916"/>
            </a:solidFill>
            <a:prstDash val="solid"/>
          </a:ln>
        </p:spPr>
      </p:sp>
      <p:sp>
        <p:nvSpPr>
          <p:cNvPr id="18"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05 · screens 05–06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1528514"/>
            <a:ext cx="57818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03 · SEE IT</a:t>
            </a:r>
            <a:endParaRPr lang="en-US" sz="1200" dirty="0"/>
          </a:p>
        </p:txBody>
      </p:sp>
      <p:sp>
        <p:nvSpPr>
          <p:cNvPr id="3" name="Text 1"/>
          <p:cNvSpPr/>
          <p:nvPr>
            <p:ph type="title"/>
          </p:nvPr>
        </p:nvSpPr>
        <p:spPr>
          <a:xfrm>
            <a:off x="812800" y="1919635"/>
            <a:ext cx="5781802" cy="985441"/>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See the finished piece before any wood is cut.</a:t>
            </a:r>
            <a:endParaRPr lang="en-US" sz="3600" dirty="0"/>
          </a:p>
        </p:txBody>
      </p:sp>
      <p:sp>
        <p:nvSpPr>
          <p:cNvPr id="4" name="Text 2"/>
          <p:cNvSpPr/>
          <p:nvPr/>
        </p:nvSpPr>
        <p:spPr>
          <a:xfrm>
            <a:off x="812800" y="3057475"/>
            <a:ext cx="5781802"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8413D"/>
                </a:solidFill>
                <a:latin typeface="Inter" pitchFamily="34" charset="0"/>
                <a:ea typeface="Inter" pitchFamily="34" charset="-122"/>
                <a:cs typeface="Inter" pitchFamily="34" charset="-120"/>
              </a:rPr>
              <a:t>A photoreal preview in the chosen material, labelled as an AI preview. “Make it” turns the plan into real parts on the sheet, and voice edits keep working.</a:t>
            </a:r>
            <a:endParaRPr lang="en-US" sz="1600" dirty="0"/>
          </a:p>
        </p:txBody>
      </p:sp>
      <p:sp>
        <p:nvSpPr>
          <p:cNvPr id="5" name="Shape 3"/>
          <p:cNvSpPr/>
          <p:nvPr/>
        </p:nvSpPr>
        <p:spPr>
          <a:xfrm>
            <a:off x="815975" y="4122341"/>
            <a:ext cx="5607050" cy="1000720"/>
          </a:xfrm>
          <a:prstGeom prst="roundRect">
            <a:avLst>
              <a:gd name="adj" fmla="val 12374"/>
            </a:avLst>
          </a:prstGeom>
          <a:solidFill>
            <a:srgbClr val="F3F0E9"/>
          </a:solidFill>
          <a:ln w="6350">
            <a:solidFill>
              <a:srgbClr val="DCD7CD"/>
            </a:solidFill>
            <a:prstDash val="solid"/>
          </a:ln>
        </p:spPr>
      </p:sp>
      <p:sp>
        <p:nvSpPr>
          <p:cNvPr id="6" name="Text 4"/>
          <p:cNvSpPr/>
          <p:nvPr/>
        </p:nvSpPr>
        <p:spPr>
          <a:xfrm>
            <a:off x="996950" y="4252516"/>
            <a:ext cx="1066800"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Muse Image</a:t>
            </a:r>
            <a:endParaRPr lang="en-US" sz="1200" dirty="0"/>
          </a:p>
        </p:txBody>
      </p:sp>
      <p:sp>
        <p:nvSpPr>
          <p:cNvPr id="7" name="Text 5"/>
          <p:cNvSpPr/>
          <p:nvPr/>
        </p:nvSpPr>
        <p:spPr>
          <a:xfrm>
            <a:off x="2063750" y="4252516"/>
            <a:ext cx="412926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art + birch swatch + scene → one render</a:t>
            </a:r>
            <a:endParaRPr lang="en-US" sz="1400" dirty="0"/>
          </a:p>
        </p:txBody>
      </p:sp>
      <p:sp>
        <p:nvSpPr>
          <p:cNvPr id="8" name="Shape 6"/>
          <p:cNvSpPr/>
          <p:nvPr/>
        </p:nvSpPr>
        <p:spPr>
          <a:xfrm>
            <a:off x="819150" y="4622701"/>
            <a:ext cx="5600700" cy="0"/>
          </a:xfrm>
          <a:prstGeom prst="line">
            <a:avLst/>
          </a:prstGeom>
          <a:noFill/>
          <a:ln w="6350">
            <a:solidFill>
              <a:srgbClr val="DCD7CD"/>
            </a:solidFill>
            <a:prstDash val="solid"/>
          </a:ln>
        </p:spPr>
      </p:sp>
      <p:sp>
        <p:nvSpPr>
          <p:cNvPr id="9" name="Text 7"/>
          <p:cNvSpPr/>
          <p:nvPr/>
        </p:nvSpPr>
        <p:spPr>
          <a:xfrm>
            <a:off x="996950" y="4752876"/>
            <a:ext cx="975370"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Spark 1.3</a:t>
            </a:r>
            <a:endParaRPr lang="en-US" sz="1200" dirty="0"/>
          </a:p>
        </p:txBody>
      </p:sp>
      <p:sp>
        <p:nvSpPr>
          <p:cNvPr id="10" name="Text 8"/>
          <p:cNvSpPr/>
          <p:nvPr/>
        </p:nvSpPr>
        <p:spPr>
          <a:xfrm>
            <a:off x="1972320" y="4752876"/>
            <a:ext cx="354847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“walls 5 mm taller” → a canvas edit</a:t>
            </a:r>
            <a:endParaRPr lang="en-US" sz="1400" dirty="0"/>
          </a:p>
        </p:txBody>
      </p:sp>
      <p:pic>
        <p:nvPicPr>
          <p:cNvPr id="11" name="Image 0" descr="Preview screen: AI preview badge, engraved birch coasters, Make it button">    </p:cNvPr>
          <p:cNvPicPr>
            <a:picLocks noChangeAspect="1"/>
          </p:cNvPicPr>
          <p:nvPr/>
        </p:nvPicPr>
        <p:blipFill>
          <a:blip r:embed="rId1"/>
          <a:srcRect l="1731" r="1731" t="0" b="0"/>
          <a:stretch/>
        </p:blipFill>
        <p:spPr>
          <a:xfrm>
            <a:off x="70993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2" name="Shape 9"/>
          <p:cNvSpPr/>
          <p:nvPr/>
        </p:nvSpPr>
        <p:spPr>
          <a:xfrm>
            <a:off x="7067550" y="1146175"/>
            <a:ext cx="1981200" cy="4362450"/>
          </a:xfrm>
          <a:prstGeom prst="roundRect">
            <a:avLst>
              <a:gd name="adj" fmla="val 12500"/>
            </a:avLst>
          </a:prstGeom>
          <a:noFill/>
          <a:ln w="63500">
            <a:solidFill>
              <a:srgbClr val="1F1916"/>
            </a:solidFill>
            <a:prstDash val="solid"/>
          </a:ln>
        </p:spPr>
      </p:sp>
      <p:pic>
        <p:nvPicPr>
          <p:cNvPr id="13" name="Image 1" descr="Canvas and make screen: parts nested on a 300 by 300 sheet, preflight checks and Download G-code">    </p:cNvPr>
          <p:cNvPicPr>
            <a:picLocks noChangeAspect="1"/>
          </p:cNvPicPr>
          <p:nvPr/>
        </p:nvPicPr>
        <p:blipFill>
          <a:blip r:embed="rId2"/>
          <a:srcRect l="1731" r="1731" t="0" b="0"/>
          <a:stretch/>
        </p:blipFill>
        <p:spPr>
          <a:xfrm>
            <a:off x="93980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4" name="Shape 10"/>
          <p:cNvSpPr/>
          <p:nvPr/>
        </p:nvSpPr>
        <p:spPr>
          <a:xfrm>
            <a:off x="9366250" y="1146175"/>
            <a:ext cx="1981200" cy="4362450"/>
          </a:xfrm>
          <a:prstGeom prst="roundRect">
            <a:avLst>
              <a:gd name="adj" fmla="val 12500"/>
            </a:avLst>
          </a:prstGeom>
          <a:noFill/>
          <a:ln w="63500">
            <a:solidFill>
              <a:srgbClr val="1F1916"/>
            </a:solidFill>
            <a:prstDash val="solid"/>
          </a:ln>
        </p:spPr>
      </p:sp>
      <p:sp>
        <p:nvSpPr>
          <p:cNvPr id="15"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06 · screens 07–08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1528514"/>
            <a:ext cx="57818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04 · BURN IT</a:t>
            </a:r>
            <a:endParaRPr lang="en-US" sz="1200" dirty="0"/>
          </a:p>
        </p:txBody>
      </p:sp>
      <p:sp>
        <p:nvSpPr>
          <p:cNvPr id="3" name="Text 1"/>
          <p:cNvSpPr/>
          <p:nvPr>
            <p:ph type="title"/>
          </p:nvPr>
        </p:nvSpPr>
        <p:spPr>
          <a:xfrm>
            <a:off x="812800" y="1919635"/>
            <a:ext cx="5781802" cy="985441"/>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One tap to G-code. A second pair of eyes on the burn.</a:t>
            </a:r>
            <a:endParaRPr lang="en-US" sz="3600" dirty="0"/>
          </a:p>
        </p:txBody>
      </p:sp>
      <p:sp>
        <p:nvSpPr>
          <p:cNvPr id="4" name="Text 2"/>
          <p:cNvSpPr/>
          <p:nvPr/>
        </p:nvSpPr>
        <p:spPr>
          <a:xfrm>
            <a:off x="812800" y="3057475"/>
            <a:ext cx="5781802"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8413D"/>
                </a:solidFill>
                <a:latin typeface="Inter" pitchFamily="34" charset="0"/>
                <a:ea typeface="Inter" pitchFamily="34" charset="-122"/>
                <a:cs typeface="Inter" pitchFamily="34" charset="-120"/>
              </a:rPr>
              <a:t>Preflight checks the bed, the paths and the order. Propped against the machine, the phone watches the burn and flags flare-ups — advisory only.</a:t>
            </a:r>
            <a:endParaRPr lang="en-US" sz="1600" dirty="0"/>
          </a:p>
        </p:txBody>
      </p:sp>
      <p:sp>
        <p:nvSpPr>
          <p:cNvPr id="5" name="Shape 3"/>
          <p:cNvSpPr/>
          <p:nvPr/>
        </p:nvSpPr>
        <p:spPr>
          <a:xfrm>
            <a:off x="815975" y="4122341"/>
            <a:ext cx="5607050" cy="1000720"/>
          </a:xfrm>
          <a:prstGeom prst="roundRect">
            <a:avLst>
              <a:gd name="adj" fmla="val 12374"/>
            </a:avLst>
          </a:prstGeom>
          <a:solidFill>
            <a:srgbClr val="F3F0E9"/>
          </a:solidFill>
          <a:ln w="6350">
            <a:solidFill>
              <a:srgbClr val="DCD7CD"/>
            </a:solidFill>
            <a:prstDash val="solid"/>
          </a:ln>
        </p:spPr>
      </p:sp>
      <p:sp>
        <p:nvSpPr>
          <p:cNvPr id="6" name="Text 4"/>
          <p:cNvSpPr/>
          <p:nvPr/>
        </p:nvSpPr>
        <p:spPr>
          <a:xfrm>
            <a:off x="996950" y="4252516"/>
            <a:ext cx="438924"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Code</a:t>
            </a:r>
            <a:endParaRPr lang="en-US" sz="1200" dirty="0"/>
          </a:p>
        </p:txBody>
      </p:sp>
      <p:sp>
        <p:nvSpPr>
          <p:cNvPr id="7" name="Text 5"/>
          <p:cNvSpPr/>
          <p:nvPr/>
        </p:nvSpPr>
        <p:spPr>
          <a:xfrm>
            <a:off x="1515120" y="4252516"/>
            <a:ext cx="469082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GRBL G-code or SVG for Cricut and Glowforge</a:t>
            </a:r>
            <a:endParaRPr lang="en-US" sz="1400" dirty="0"/>
          </a:p>
        </p:txBody>
      </p:sp>
      <p:sp>
        <p:nvSpPr>
          <p:cNvPr id="8" name="Shape 6"/>
          <p:cNvSpPr/>
          <p:nvPr/>
        </p:nvSpPr>
        <p:spPr>
          <a:xfrm>
            <a:off x="819150" y="4622701"/>
            <a:ext cx="5600700" cy="0"/>
          </a:xfrm>
          <a:prstGeom prst="line">
            <a:avLst/>
          </a:prstGeom>
          <a:noFill/>
          <a:ln w="6350">
            <a:solidFill>
              <a:srgbClr val="DCD7CD"/>
            </a:solidFill>
            <a:prstDash val="solid"/>
          </a:ln>
        </p:spPr>
      </p:sp>
      <p:sp>
        <p:nvSpPr>
          <p:cNvPr id="9" name="Text 7"/>
          <p:cNvSpPr/>
          <p:nvPr/>
        </p:nvSpPr>
        <p:spPr>
          <a:xfrm>
            <a:off x="996950" y="4752876"/>
            <a:ext cx="1158230" cy="2654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SAM + Spark</a:t>
            </a:r>
            <a:endParaRPr lang="en-US" sz="1200" dirty="0"/>
          </a:p>
        </p:txBody>
      </p:sp>
      <p:sp>
        <p:nvSpPr>
          <p:cNvPr id="10" name="Text 8"/>
          <p:cNvSpPr/>
          <p:nvPr/>
        </p:nvSpPr>
        <p:spPr>
          <a:xfrm>
            <a:off x="2155180" y="4752876"/>
            <a:ext cx="41767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916"/>
                </a:solidFill>
                <a:latin typeface="Inter" pitchFamily="34" charset="0"/>
                <a:ea typeface="Inter" pitchFamily="34" charset="-122"/>
                <a:cs typeface="Inter" pitchFamily="34" charset="-120"/>
              </a:rPr>
              <a:t>track the workpiece, flag flare and smoke</a:t>
            </a:r>
            <a:endParaRPr lang="en-US" sz="1400" dirty="0"/>
          </a:p>
        </p:txBody>
      </p:sp>
      <p:pic>
        <p:nvPicPr>
          <p:cNvPr id="11" name="Image 0" descr="Make screen with preflight: fits the bed, paths closed, engrave before cut, estimated 14 minutes">    </p:cNvPr>
          <p:cNvPicPr>
            <a:picLocks noChangeAspect="1"/>
          </p:cNvPicPr>
          <p:nvPr/>
        </p:nvPicPr>
        <p:blipFill>
          <a:blip r:embed="rId1"/>
          <a:srcRect l="1731" r="1731" t="0" b="0"/>
          <a:stretch/>
        </p:blipFill>
        <p:spPr>
          <a:xfrm>
            <a:off x="70993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2" name="Shape 9"/>
          <p:cNvSpPr/>
          <p:nvPr/>
        </p:nvSpPr>
        <p:spPr>
          <a:xfrm>
            <a:off x="7067550" y="1146175"/>
            <a:ext cx="1981200" cy="4362450"/>
          </a:xfrm>
          <a:prstGeom prst="roundRect">
            <a:avLst>
              <a:gd name="adj" fmla="val 12500"/>
            </a:avLst>
          </a:prstGeom>
          <a:noFill/>
          <a:ln w="63500">
            <a:solidFill>
              <a:srgbClr val="1F1916"/>
            </a:solidFill>
            <a:prstDash val="solid"/>
          </a:ln>
        </p:spPr>
      </p:sp>
      <p:pic>
        <p:nvPicPr>
          <p:cNvPr id="13" name="Image 1" descr="Burn Watch screen: flare on coaster 3 at 0:42, event timeline and list">    </p:cNvPr>
          <p:cNvPicPr>
            <a:picLocks noChangeAspect="1"/>
          </p:cNvPicPr>
          <p:nvPr/>
        </p:nvPicPr>
        <p:blipFill>
          <a:blip r:embed="rId2"/>
          <a:srcRect l="1731" r="1731" t="0" b="0"/>
          <a:stretch/>
        </p:blipFill>
        <p:spPr>
          <a:xfrm>
            <a:off x="93980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4" name="Shape 10"/>
          <p:cNvSpPr/>
          <p:nvPr/>
        </p:nvSpPr>
        <p:spPr>
          <a:xfrm>
            <a:off x="9366250" y="1146175"/>
            <a:ext cx="1981200" cy="4362450"/>
          </a:xfrm>
          <a:prstGeom prst="roundRect">
            <a:avLst>
              <a:gd name="adj" fmla="val 12500"/>
            </a:avLst>
          </a:prstGeom>
          <a:noFill/>
          <a:ln w="63500">
            <a:solidFill>
              <a:srgbClr val="1F1916"/>
            </a:solidFill>
            <a:prstDash val="solid"/>
          </a:ln>
        </p:spPr>
      </p:sp>
      <p:sp>
        <p:nvSpPr>
          <p:cNvPr id="15"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07 · screens 08–09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9"/>
        </a:solidFill>
      </p:bgPr>
    </p:bg>
    <p:spTree>
      <p:nvGrpSpPr>
        <p:cNvPr id="1" name=""/>
        <p:cNvGrpSpPr/>
        <p:nvPr/>
      </p:nvGrpSpPr>
      <p:grpSpPr>
        <a:xfrm>
          <a:off x="0" y="0"/>
          <a:ext cx="0" cy="0"/>
          <a:chOff x="0" y="0"/>
          <a:chExt cx="0" cy="0"/>
        </a:xfrm>
      </p:grpSpPr>
      <p:sp>
        <p:nvSpPr>
          <p:cNvPr id="2" name="Text 0"/>
          <p:cNvSpPr/>
          <p:nvPr/>
        </p:nvSpPr>
        <p:spPr>
          <a:xfrm>
            <a:off x="812800" y="1077069"/>
            <a:ext cx="57818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UNDER THE HOOD</a:t>
            </a:r>
            <a:endParaRPr lang="en-US" sz="1200" dirty="0"/>
          </a:p>
        </p:txBody>
      </p:sp>
      <p:sp>
        <p:nvSpPr>
          <p:cNvPr id="3" name="Text 1"/>
          <p:cNvSpPr/>
          <p:nvPr>
            <p:ph type="title"/>
          </p:nvPr>
        </p:nvSpPr>
        <p:spPr>
          <a:xfrm>
            <a:off x="812800" y="1493589"/>
            <a:ext cx="5781802" cy="985441"/>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Every model call, its job and its cost — on screen.</a:t>
            </a:r>
            <a:endParaRPr lang="en-US" sz="3600" dirty="0"/>
          </a:p>
        </p:txBody>
      </p:sp>
      <p:sp>
        <p:nvSpPr>
          <p:cNvPr id="4" name="Shape 2"/>
          <p:cNvSpPr/>
          <p:nvPr/>
        </p:nvSpPr>
        <p:spPr>
          <a:xfrm>
            <a:off x="812800" y="2656830"/>
            <a:ext cx="2730500" cy="1384250"/>
          </a:xfrm>
          <a:prstGeom prst="roundRect">
            <a:avLst>
              <a:gd name="adj" fmla="val 9175"/>
            </a:avLst>
          </a:prstGeom>
          <a:solidFill>
            <a:srgbClr val="F9F6F1"/>
          </a:solidFill>
          <a:ln/>
        </p:spPr>
      </p:sp>
      <p:sp>
        <p:nvSpPr>
          <p:cNvPr id="5" name="Text 3"/>
          <p:cNvSpPr/>
          <p:nvPr/>
        </p:nvSpPr>
        <p:spPr>
          <a:xfrm>
            <a:off x="1016000" y="2860030"/>
            <a:ext cx="2393823"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1916"/>
                </a:solidFill>
                <a:latin typeface="JetBrains Mono" pitchFamily="49" charset="0"/>
                <a:ea typeface="JetBrains Mono" pitchFamily="49" charset="-122"/>
                <a:cs typeface="JetBrains Mono" pitchFamily="49" charset="-120"/>
              </a:rPr>
              <a:t>≈ $0.13</a:t>
            </a:r>
            <a:endParaRPr lang="en-US" sz="3200" dirty="0"/>
          </a:p>
        </p:txBody>
      </p:sp>
      <p:sp>
        <p:nvSpPr>
          <p:cNvPr id="6" name="Text 4"/>
          <p:cNvSpPr/>
          <p:nvPr/>
        </p:nvSpPr>
        <p:spPr>
          <a:xfrm>
            <a:off x="1016000" y="3357860"/>
            <a:ext cx="2527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per hero session, 5 models</a:t>
            </a:r>
            <a:endParaRPr lang="en-US" sz="1400" dirty="0"/>
          </a:p>
        </p:txBody>
      </p:sp>
      <p:sp>
        <p:nvSpPr>
          <p:cNvPr id="7" name="Shape 5"/>
          <p:cNvSpPr/>
          <p:nvPr/>
        </p:nvSpPr>
        <p:spPr>
          <a:xfrm>
            <a:off x="3695700" y="2656830"/>
            <a:ext cx="2730500" cy="1384250"/>
          </a:xfrm>
          <a:prstGeom prst="roundRect">
            <a:avLst>
              <a:gd name="adj" fmla="val 9175"/>
            </a:avLst>
          </a:prstGeom>
          <a:solidFill>
            <a:srgbClr val="F9F6F1"/>
          </a:solidFill>
          <a:ln/>
        </p:spPr>
      </p:sp>
      <p:sp>
        <p:nvSpPr>
          <p:cNvPr id="8" name="Text 6"/>
          <p:cNvSpPr/>
          <p:nvPr/>
        </p:nvSpPr>
        <p:spPr>
          <a:xfrm>
            <a:off x="3898900" y="2860030"/>
            <a:ext cx="2393823"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1916"/>
                </a:solidFill>
                <a:latin typeface="JetBrains Mono" pitchFamily="49" charset="0"/>
                <a:ea typeface="JetBrains Mono" pitchFamily="49" charset="-122"/>
                <a:cs typeface="JetBrains Mono" pitchFamily="49" charset="-120"/>
              </a:rPr>
              <a:t>≈ 1,000</a:t>
            </a:r>
            <a:endParaRPr lang="en-US" sz="3200" dirty="0"/>
          </a:p>
        </p:txBody>
      </p:sp>
      <p:sp>
        <p:nvSpPr>
          <p:cNvPr id="9" name="Text 7"/>
          <p:cNvSpPr/>
          <p:nvPr/>
        </p:nvSpPr>
        <p:spPr>
          <a:xfrm>
            <a:off x="3898900" y="3357860"/>
            <a:ext cx="239382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sessions from $150 of credit</a:t>
            </a:r>
            <a:endParaRPr lang="en-US" sz="1400" dirty="0"/>
          </a:p>
        </p:txBody>
      </p:sp>
      <p:sp>
        <p:nvSpPr>
          <p:cNvPr id="10" name="Shape 8"/>
          <p:cNvSpPr/>
          <p:nvPr/>
        </p:nvSpPr>
        <p:spPr>
          <a:xfrm>
            <a:off x="812800" y="4193480"/>
            <a:ext cx="2730500" cy="1384250"/>
          </a:xfrm>
          <a:prstGeom prst="roundRect">
            <a:avLst>
              <a:gd name="adj" fmla="val 9175"/>
            </a:avLst>
          </a:prstGeom>
          <a:solidFill>
            <a:srgbClr val="F9F6F1"/>
          </a:solidFill>
          <a:ln/>
        </p:spPr>
      </p:sp>
      <p:sp>
        <p:nvSpPr>
          <p:cNvPr id="11" name="Text 9"/>
          <p:cNvSpPr/>
          <p:nvPr/>
        </p:nvSpPr>
        <p:spPr>
          <a:xfrm>
            <a:off x="1016000" y="4396680"/>
            <a:ext cx="2393823"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1916"/>
                </a:solidFill>
                <a:latin typeface="JetBrains Mono" pitchFamily="49" charset="0"/>
                <a:ea typeface="JetBrains Mono" pitchFamily="49" charset="-122"/>
                <a:cs typeface="JetBrains Mono" pitchFamily="49" charset="-120"/>
              </a:rPr>
              <a:t>$1 · $10</a:t>
            </a:r>
            <a:endParaRPr lang="en-US" sz="3200" dirty="0"/>
          </a:p>
        </p:txBody>
      </p:sp>
      <p:sp>
        <p:nvSpPr>
          <p:cNvPr id="12" name="Text 10"/>
          <p:cNvSpPr/>
          <p:nvPr/>
        </p:nvSpPr>
        <p:spPr>
          <a:xfrm>
            <a:off x="1016000" y="4894511"/>
            <a:ext cx="239382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budget caps per session · per day</a:t>
            </a:r>
            <a:endParaRPr lang="en-US" sz="1400" dirty="0"/>
          </a:p>
        </p:txBody>
      </p:sp>
      <p:sp>
        <p:nvSpPr>
          <p:cNvPr id="13" name="Shape 11"/>
          <p:cNvSpPr/>
          <p:nvPr/>
        </p:nvSpPr>
        <p:spPr>
          <a:xfrm>
            <a:off x="3695700" y="4193480"/>
            <a:ext cx="2730500" cy="1384250"/>
          </a:xfrm>
          <a:prstGeom prst="roundRect">
            <a:avLst>
              <a:gd name="adj" fmla="val 9175"/>
            </a:avLst>
          </a:prstGeom>
          <a:solidFill>
            <a:srgbClr val="F9F6F1"/>
          </a:solidFill>
          <a:ln/>
        </p:spPr>
      </p:sp>
      <p:sp>
        <p:nvSpPr>
          <p:cNvPr id="14" name="Text 12"/>
          <p:cNvSpPr/>
          <p:nvPr/>
        </p:nvSpPr>
        <p:spPr>
          <a:xfrm>
            <a:off x="3898900" y="4396680"/>
            <a:ext cx="2393823"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F1916"/>
                </a:solidFill>
                <a:latin typeface="JetBrains Mono" pitchFamily="49" charset="0"/>
                <a:ea typeface="JetBrains Mono" pitchFamily="49" charset="-122"/>
                <a:cs typeface="JetBrains Mono" pitchFamily="49" charset="-120"/>
              </a:rPr>
              <a:t>18+</a:t>
            </a:r>
            <a:endParaRPr lang="en-US" sz="3200" dirty="0"/>
          </a:p>
        </p:txBody>
      </p:sp>
      <p:sp>
        <p:nvSpPr>
          <p:cNvPr id="15" name="Text 13"/>
          <p:cNvSpPr/>
          <p:nvPr/>
        </p:nvSpPr>
        <p:spPr>
          <a:xfrm>
            <a:off x="3898900" y="4894511"/>
            <a:ext cx="239382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8413D"/>
                </a:solidFill>
                <a:latin typeface="Inter" pitchFamily="34" charset="0"/>
                <a:ea typeface="Inter" pitchFamily="34" charset="-122"/>
                <a:cs typeface="Inter" pitchFamily="34" charset="-120"/>
              </a:rPr>
              <a:t>invite code, safety and media notice</a:t>
            </a:r>
            <a:endParaRPr lang="en-US" sz="1400" dirty="0"/>
          </a:p>
        </p:txBody>
      </p:sp>
      <p:pic>
        <p:nvPicPr>
          <p:cNvPr id="16" name="Image 0" descr="Under the hood sheet: $0.11 total, 14 calls across 5 models, 38 seconds of AI time, and a list of calls with costs">    </p:cNvPr>
          <p:cNvPicPr>
            <a:picLocks noChangeAspect="1"/>
          </p:cNvPicPr>
          <p:nvPr/>
        </p:nvPicPr>
        <p:blipFill>
          <a:blip r:embed="rId1"/>
          <a:srcRect l="1731" r="1731" t="0" b="0"/>
          <a:stretch/>
        </p:blipFill>
        <p:spPr>
          <a:xfrm>
            <a:off x="70993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7" name="Shape 14"/>
          <p:cNvSpPr/>
          <p:nvPr/>
        </p:nvSpPr>
        <p:spPr>
          <a:xfrm>
            <a:off x="7067550" y="1146175"/>
            <a:ext cx="1981200" cy="4362450"/>
          </a:xfrm>
          <a:prstGeom prst="roundRect">
            <a:avLst>
              <a:gd name="adj" fmla="val 12500"/>
            </a:avLst>
          </a:prstGeom>
          <a:noFill/>
          <a:ln w="63500">
            <a:solidFill>
              <a:srgbClr val="1F1916"/>
            </a:solidFill>
            <a:prstDash val="solid"/>
          </a:ln>
        </p:spPr>
      </p:sp>
      <p:pic>
        <p:nvPicPr>
          <p:cNvPr id="18" name="Image 1" descr="First-run screen: invite code, 18 or older, never leave the laser unattended, no personal photos">    </p:cNvPr>
          <p:cNvPicPr>
            <a:picLocks noChangeAspect="1"/>
          </p:cNvPicPr>
          <p:nvPr/>
        </p:nvPicPr>
        <p:blipFill>
          <a:blip r:embed="rId2"/>
          <a:srcRect l="1731" r="1731" t="0" b="0"/>
          <a:stretch/>
        </p:blipFill>
        <p:spPr>
          <a:xfrm>
            <a:off x="9398000" y="1177925"/>
            <a:ext cx="1917700" cy="4298950"/>
          </a:xfrm>
          <a:prstGeom prst="roundRect">
            <a:avLst>
              <a:gd name="adj" fmla="val 11258"/>
            </a:avLst>
          </a:prstGeom>
          <a:effectLst>
            <a:outerShdw sx="100000" sy="100000" kx="0" ky="0" algn="bl" rotWithShape="0" blurRad="381000" dist="152400" dir="5400000">
              <a:srgbClr val="1F1916">
                <a:alpha val="18000"/>
              </a:srgbClr>
            </a:outerShdw>
          </a:effectLst>
        </p:spPr>
      </p:pic>
      <p:sp>
        <p:nvSpPr>
          <p:cNvPr id="19" name="Shape 15"/>
          <p:cNvSpPr/>
          <p:nvPr/>
        </p:nvSpPr>
        <p:spPr>
          <a:xfrm>
            <a:off x="9366250" y="1146175"/>
            <a:ext cx="1981200" cy="4362450"/>
          </a:xfrm>
          <a:prstGeom prst="roundRect">
            <a:avLst>
              <a:gd name="adj" fmla="val 12500"/>
            </a:avLst>
          </a:prstGeom>
          <a:noFill/>
          <a:ln w="63500">
            <a:solidFill>
              <a:srgbClr val="1F1916"/>
            </a:solidFill>
            <a:prstDash val="solid"/>
          </a:ln>
        </p:spPr>
      </p:sp>
      <p:sp>
        <p:nvSpPr>
          <p:cNvPr id="20"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08 · screens 10 and 01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0E0C"/>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C785B"/>
                </a:solidFill>
                <a:latin typeface="JetBrains Mono" pitchFamily="49" charset="0"/>
                <a:ea typeface="JetBrains Mono" pitchFamily="49" charset="-122"/>
                <a:cs typeface="JetBrains Mono" pitchFamily="49" charset="-120"/>
              </a:rPr>
              <a:t>WHY META’S MODELS</a:t>
            </a:r>
            <a:endParaRPr lang="en-US" sz="1200" dirty="0"/>
          </a:p>
        </p:txBody>
      </p:sp>
      <p:sp>
        <p:nvSpPr>
          <p:cNvPr id="3" name="Text 1"/>
          <p:cNvSpPr/>
          <p:nvPr>
            <p:ph type="title"/>
          </p:nvPr>
        </p:nvSpPr>
        <p:spPr>
          <a:xfrm>
            <a:off x="812800" y="1051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EEEBE5"/>
                </a:solidFill>
                <a:latin typeface="Fraunces" pitchFamily="18" charset="0"/>
                <a:ea typeface="Fraunces" pitchFamily="18" charset="-122"/>
                <a:cs typeface="Fraunces" pitchFamily="18" charset="-120"/>
              </a:rPr>
              <a:t>Six Meta models, one workshop buddy.</a:t>
            </a:r>
            <a:endParaRPr lang="en-US" sz="3600" dirty="0"/>
          </a:p>
        </p:txBody>
      </p:sp>
      <p:sp>
        <p:nvSpPr>
          <p:cNvPr id="4" name="Shape 2"/>
          <p:cNvSpPr/>
          <p:nvPr/>
        </p:nvSpPr>
        <p:spPr>
          <a:xfrm>
            <a:off x="812800" y="1788716"/>
            <a:ext cx="10566400" cy="0"/>
          </a:xfrm>
          <a:prstGeom prst="line">
            <a:avLst/>
          </a:prstGeom>
          <a:noFill/>
          <a:ln w="6350">
            <a:solidFill>
              <a:srgbClr val="322C29"/>
            </a:solidFill>
            <a:prstDash val="solid"/>
          </a:ln>
        </p:spPr>
      </p:sp>
      <p:sp>
        <p:nvSpPr>
          <p:cNvPr id="5" name="Shape 3"/>
          <p:cNvSpPr/>
          <p:nvPr/>
        </p:nvSpPr>
        <p:spPr>
          <a:xfrm>
            <a:off x="812800" y="2272556"/>
            <a:ext cx="10566400" cy="0"/>
          </a:xfrm>
          <a:prstGeom prst="line">
            <a:avLst/>
          </a:prstGeom>
          <a:noFill/>
          <a:ln w="6350">
            <a:solidFill>
              <a:srgbClr val="322C29"/>
            </a:solidFill>
            <a:prstDash val="solid"/>
          </a:ln>
        </p:spPr>
      </p:sp>
      <p:sp>
        <p:nvSpPr>
          <p:cNvPr id="6" name="Text 4"/>
          <p:cNvSpPr/>
          <p:nvPr/>
        </p:nvSpPr>
        <p:spPr>
          <a:xfrm>
            <a:off x="812800" y="190619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Fraunces" pitchFamily="18" charset="0"/>
                <a:ea typeface="Fraunces" pitchFamily="18" charset="-122"/>
                <a:cs typeface="Fraunces" pitchFamily="18" charset="-120"/>
              </a:rPr>
              <a:t>Voice Transcribe</a:t>
            </a:r>
            <a:endParaRPr lang="en-US" sz="1400" dirty="0"/>
          </a:p>
        </p:txBody>
      </p:sp>
      <p:sp>
        <p:nvSpPr>
          <p:cNvPr id="7" name="Text 5"/>
          <p:cNvSpPr/>
          <p:nvPr/>
        </p:nvSpPr>
        <p:spPr>
          <a:xfrm>
            <a:off x="3302000" y="1906191"/>
            <a:ext cx="792182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B7B2"/>
                </a:solidFill>
                <a:latin typeface="Inter" pitchFamily="34" charset="0"/>
                <a:ea typeface="Inter" pitchFamily="34" charset="-122"/>
                <a:cs typeface="Inter" pitchFamily="34" charset="-120"/>
              </a:rPr>
              <a:t>The ear — realtime push-to-talk, biased to maker words</a:t>
            </a:r>
            <a:endParaRPr lang="en-US" sz="1400" dirty="0"/>
          </a:p>
        </p:txBody>
      </p:sp>
      <p:sp>
        <p:nvSpPr>
          <p:cNvPr id="8" name="Text 6"/>
          <p:cNvSpPr/>
          <p:nvPr/>
        </p:nvSpPr>
        <p:spPr>
          <a:xfrm>
            <a:off x="11196290" y="192395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785B"/>
                </a:solidFill>
                <a:latin typeface="JetBrains Mono" pitchFamily="49" charset="0"/>
                <a:ea typeface="JetBrains Mono" pitchFamily="49" charset="-122"/>
                <a:cs typeface="JetBrains Mono" pitchFamily="49" charset="-120"/>
              </a:rPr>
              <a:t>P1</a:t>
            </a:r>
            <a:endParaRPr lang="en-US" sz="1200" dirty="0"/>
          </a:p>
        </p:txBody>
      </p:sp>
      <p:sp>
        <p:nvSpPr>
          <p:cNvPr id="9" name="Shape 7"/>
          <p:cNvSpPr/>
          <p:nvPr/>
        </p:nvSpPr>
        <p:spPr>
          <a:xfrm>
            <a:off x="812800" y="2756396"/>
            <a:ext cx="10566400" cy="0"/>
          </a:xfrm>
          <a:prstGeom prst="line">
            <a:avLst/>
          </a:prstGeom>
          <a:noFill/>
          <a:ln w="6350">
            <a:solidFill>
              <a:srgbClr val="322C29"/>
            </a:solidFill>
            <a:prstDash val="solid"/>
          </a:ln>
        </p:spPr>
      </p:sp>
      <p:sp>
        <p:nvSpPr>
          <p:cNvPr id="10" name="Text 8"/>
          <p:cNvSpPr/>
          <p:nvPr/>
        </p:nvSpPr>
        <p:spPr>
          <a:xfrm>
            <a:off x="812800" y="239003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Fraunces" pitchFamily="18" charset="0"/>
                <a:ea typeface="Fraunces" pitchFamily="18" charset="-122"/>
                <a:cs typeface="Fraunces" pitchFamily="18" charset="-120"/>
              </a:rPr>
              <a:t>Muse Spark 1.3</a:t>
            </a:r>
            <a:endParaRPr lang="en-US" sz="1400" dirty="0"/>
          </a:p>
        </p:txBody>
      </p:sp>
      <p:sp>
        <p:nvSpPr>
          <p:cNvPr id="11" name="Text 9"/>
          <p:cNvSpPr/>
          <p:nvPr/>
        </p:nvSpPr>
        <p:spPr>
          <a:xfrm>
            <a:off x="3302000" y="2390031"/>
            <a:ext cx="792182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B7B2"/>
                </a:solidFill>
                <a:latin typeface="Inter" pitchFamily="34" charset="0"/>
                <a:ea typeface="Inter" pitchFamily="34" charset="-122"/>
                <a:cs typeface="Inter" pitchFamily="34" charset="-120"/>
              </a:rPr>
              <a:t>Eye and brain — scene, plan and edits as strict JSON</a:t>
            </a:r>
            <a:endParaRPr lang="en-US" sz="1400" dirty="0"/>
          </a:p>
        </p:txBody>
      </p:sp>
      <p:sp>
        <p:nvSpPr>
          <p:cNvPr id="12" name="Text 10"/>
          <p:cNvSpPr/>
          <p:nvPr/>
        </p:nvSpPr>
        <p:spPr>
          <a:xfrm>
            <a:off x="11196290" y="240779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785B"/>
                </a:solidFill>
                <a:latin typeface="JetBrains Mono" pitchFamily="49" charset="0"/>
                <a:ea typeface="JetBrains Mono" pitchFamily="49" charset="-122"/>
                <a:cs typeface="JetBrains Mono" pitchFamily="49" charset="-120"/>
              </a:rPr>
              <a:t>P1</a:t>
            </a:r>
            <a:endParaRPr lang="en-US" sz="1200" dirty="0"/>
          </a:p>
        </p:txBody>
      </p:sp>
      <p:sp>
        <p:nvSpPr>
          <p:cNvPr id="13" name="Shape 11"/>
          <p:cNvSpPr/>
          <p:nvPr/>
        </p:nvSpPr>
        <p:spPr>
          <a:xfrm>
            <a:off x="812800" y="3240236"/>
            <a:ext cx="10566400" cy="0"/>
          </a:xfrm>
          <a:prstGeom prst="line">
            <a:avLst/>
          </a:prstGeom>
          <a:noFill/>
          <a:ln w="6350">
            <a:solidFill>
              <a:srgbClr val="322C29"/>
            </a:solidFill>
            <a:prstDash val="solid"/>
          </a:ln>
        </p:spPr>
      </p:sp>
      <p:sp>
        <p:nvSpPr>
          <p:cNvPr id="14" name="Text 12"/>
          <p:cNvSpPr/>
          <p:nvPr/>
        </p:nvSpPr>
        <p:spPr>
          <a:xfrm>
            <a:off x="812800" y="287387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Fraunces" pitchFamily="18" charset="0"/>
                <a:ea typeface="Fraunces" pitchFamily="18" charset="-122"/>
                <a:cs typeface="Fraunces" pitchFamily="18" charset="-120"/>
              </a:rPr>
              <a:t>SAM 3.1</a:t>
            </a:r>
            <a:endParaRPr lang="en-US" sz="1400" dirty="0"/>
          </a:p>
        </p:txBody>
      </p:sp>
      <p:sp>
        <p:nvSpPr>
          <p:cNvPr id="15" name="Text 13"/>
          <p:cNvSpPr/>
          <p:nvPr/>
        </p:nvSpPr>
        <p:spPr>
          <a:xfrm>
            <a:off x="3302000" y="2873871"/>
            <a:ext cx="792182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B7B2"/>
                </a:solidFill>
                <a:latin typeface="Inter" pitchFamily="34" charset="0"/>
                <a:ea typeface="Inter" pitchFamily="34" charset="-122"/>
                <a:cs typeface="Inter" pitchFamily="34" charset="-120"/>
              </a:rPr>
              <a:t>The steady hand — masks for scale, fit, art and tracking</a:t>
            </a:r>
            <a:endParaRPr lang="en-US" sz="1400" dirty="0"/>
          </a:p>
        </p:txBody>
      </p:sp>
      <p:sp>
        <p:nvSpPr>
          <p:cNvPr id="16" name="Text 14"/>
          <p:cNvSpPr/>
          <p:nvPr/>
        </p:nvSpPr>
        <p:spPr>
          <a:xfrm>
            <a:off x="11196290" y="289163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785B"/>
                </a:solidFill>
                <a:latin typeface="JetBrains Mono" pitchFamily="49" charset="0"/>
                <a:ea typeface="JetBrains Mono" pitchFamily="49" charset="-122"/>
                <a:cs typeface="JetBrains Mono" pitchFamily="49" charset="-120"/>
              </a:rPr>
              <a:t>P1</a:t>
            </a:r>
            <a:endParaRPr lang="en-US" sz="1200" dirty="0"/>
          </a:p>
        </p:txBody>
      </p:sp>
      <p:sp>
        <p:nvSpPr>
          <p:cNvPr id="17" name="Shape 15"/>
          <p:cNvSpPr/>
          <p:nvPr/>
        </p:nvSpPr>
        <p:spPr>
          <a:xfrm>
            <a:off x="812800" y="3724077"/>
            <a:ext cx="10566400" cy="0"/>
          </a:xfrm>
          <a:prstGeom prst="line">
            <a:avLst/>
          </a:prstGeom>
          <a:noFill/>
          <a:ln w="6350">
            <a:solidFill>
              <a:srgbClr val="322C29"/>
            </a:solidFill>
            <a:prstDash val="solid"/>
          </a:ln>
        </p:spPr>
      </p:sp>
      <p:sp>
        <p:nvSpPr>
          <p:cNvPr id="18" name="Text 16"/>
          <p:cNvSpPr/>
          <p:nvPr/>
        </p:nvSpPr>
        <p:spPr>
          <a:xfrm>
            <a:off x="812800" y="335771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Fraunces" pitchFamily="18" charset="0"/>
                <a:ea typeface="Fraunces" pitchFamily="18" charset="-122"/>
                <a:cs typeface="Fraunces" pitchFamily="18" charset="-120"/>
              </a:rPr>
              <a:t>Muse Image</a:t>
            </a:r>
            <a:endParaRPr lang="en-US" sz="1400" dirty="0"/>
          </a:p>
        </p:txBody>
      </p:sp>
      <p:sp>
        <p:nvSpPr>
          <p:cNvPr id="19" name="Text 17"/>
          <p:cNvSpPr/>
          <p:nvPr/>
        </p:nvSpPr>
        <p:spPr>
          <a:xfrm>
            <a:off x="3302000" y="3357711"/>
            <a:ext cx="792182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B7B2"/>
                </a:solidFill>
                <a:latin typeface="Inter" pitchFamily="34" charset="0"/>
                <a:ea typeface="Inter" pitchFamily="34" charset="-122"/>
                <a:cs typeface="Inter" pitchFamily="34" charset="-120"/>
              </a:rPr>
              <a:t>Imagination — sketch cleanup and the photoreal preview</a:t>
            </a:r>
            <a:endParaRPr lang="en-US" sz="1400" dirty="0"/>
          </a:p>
        </p:txBody>
      </p:sp>
      <p:sp>
        <p:nvSpPr>
          <p:cNvPr id="20" name="Text 18"/>
          <p:cNvSpPr/>
          <p:nvPr/>
        </p:nvSpPr>
        <p:spPr>
          <a:xfrm>
            <a:off x="11196290" y="337547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785B"/>
                </a:solidFill>
                <a:latin typeface="JetBrains Mono" pitchFamily="49" charset="0"/>
                <a:ea typeface="JetBrains Mono" pitchFamily="49" charset="-122"/>
                <a:cs typeface="JetBrains Mono" pitchFamily="49" charset="-120"/>
              </a:rPr>
              <a:t>P1</a:t>
            </a:r>
            <a:endParaRPr lang="en-US" sz="1200" dirty="0"/>
          </a:p>
        </p:txBody>
      </p:sp>
      <p:sp>
        <p:nvSpPr>
          <p:cNvPr id="21" name="Shape 19"/>
          <p:cNvSpPr/>
          <p:nvPr/>
        </p:nvSpPr>
        <p:spPr>
          <a:xfrm>
            <a:off x="812800" y="4207917"/>
            <a:ext cx="10566400" cy="0"/>
          </a:xfrm>
          <a:prstGeom prst="line">
            <a:avLst/>
          </a:prstGeom>
          <a:noFill/>
          <a:ln w="6350">
            <a:solidFill>
              <a:srgbClr val="322C29"/>
            </a:solidFill>
            <a:prstDash val="solid"/>
          </a:ln>
        </p:spPr>
      </p:sp>
      <p:sp>
        <p:nvSpPr>
          <p:cNvPr id="22" name="Text 20"/>
          <p:cNvSpPr/>
          <p:nvPr/>
        </p:nvSpPr>
        <p:spPr>
          <a:xfrm>
            <a:off x="812800" y="3841552"/>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Fraunces" pitchFamily="18" charset="0"/>
                <a:ea typeface="Fraunces" pitchFamily="18" charset="-122"/>
                <a:cs typeface="Fraunces" pitchFamily="18" charset="-120"/>
              </a:rPr>
              <a:t>Muse Wonder</a:t>
            </a:r>
            <a:endParaRPr lang="en-US" sz="1400" dirty="0"/>
          </a:p>
        </p:txBody>
      </p:sp>
      <p:sp>
        <p:nvSpPr>
          <p:cNvPr id="23" name="Text 21"/>
          <p:cNvSpPr/>
          <p:nvPr/>
        </p:nvSpPr>
        <p:spPr>
          <a:xfrm>
            <a:off x="3302000" y="3841552"/>
            <a:ext cx="78276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B7B2"/>
                </a:solidFill>
                <a:latin typeface="Inter" pitchFamily="34" charset="0"/>
                <a:ea typeface="Inter" pitchFamily="34" charset="-122"/>
                <a:cs typeface="Inter" pitchFamily="34" charset="-120"/>
              </a:rPr>
              <a:t>Project manager — 40-name batches, in the background</a:t>
            </a:r>
            <a:endParaRPr lang="en-US" sz="1400" dirty="0"/>
          </a:p>
        </p:txBody>
      </p:sp>
      <p:sp>
        <p:nvSpPr>
          <p:cNvPr id="24" name="Text 22"/>
          <p:cNvSpPr/>
          <p:nvPr/>
        </p:nvSpPr>
        <p:spPr>
          <a:xfrm>
            <a:off x="11104860" y="3859312"/>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AB7B2"/>
                </a:solidFill>
                <a:latin typeface="JetBrains Mono" pitchFamily="49" charset="0"/>
                <a:ea typeface="JetBrains Mono" pitchFamily="49" charset="-122"/>
                <a:cs typeface="JetBrains Mono" pitchFamily="49" charset="-120"/>
              </a:rPr>
              <a:t>P1+</a:t>
            </a:r>
            <a:endParaRPr lang="en-US" sz="1200" dirty="0"/>
          </a:p>
        </p:txBody>
      </p:sp>
      <p:sp>
        <p:nvSpPr>
          <p:cNvPr id="25" name="Shape 23"/>
          <p:cNvSpPr/>
          <p:nvPr/>
        </p:nvSpPr>
        <p:spPr>
          <a:xfrm>
            <a:off x="812800" y="4691757"/>
            <a:ext cx="10566400" cy="0"/>
          </a:xfrm>
          <a:prstGeom prst="line">
            <a:avLst/>
          </a:prstGeom>
          <a:noFill/>
          <a:ln w="6350">
            <a:solidFill>
              <a:srgbClr val="322C29"/>
            </a:solidFill>
            <a:prstDash val="solid"/>
          </a:ln>
        </p:spPr>
      </p:sp>
      <p:sp>
        <p:nvSpPr>
          <p:cNvPr id="26" name="Text 24"/>
          <p:cNvSpPr/>
          <p:nvPr/>
        </p:nvSpPr>
        <p:spPr>
          <a:xfrm>
            <a:off x="812800" y="4325392"/>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EBE5"/>
                </a:solidFill>
                <a:latin typeface="Fraunces" pitchFamily="18" charset="0"/>
                <a:ea typeface="Fraunces" pitchFamily="18" charset="-122"/>
                <a:cs typeface="Fraunces" pitchFamily="18" charset="-120"/>
              </a:rPr>
              <a:t>Muse Glimmer</a:t>
            </a:r>
            <a:endParaRPr lang="en-US" sz="1400" dirty="0"/>
          </a:p>
        </p:txBody>
      </p:sp>
      <p:sp>
        <p:nvSpPr>
          <p:cNvPr id="27" name="Text 25"/>
          <p:cNvSpPr/>
          <p:nvPr/>
        </p:nvSpPr>
        <p:spPr>
          <a:xfrm>
            <a:off x="3302000" y="4325392"/>
            <a:ext cx="78276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AB7B2"/>
                </a:solidFill>
                <a:latin typeface="Inter" pitchFamily="34" charset="0"/>
                <a:ea typeface="Inter" pitchFamily="34" charset="-122"/>
                <a:cs typeface="Inter" pitchFamily="34" charset="-120"/>
              </a:rPr>
              <a:t>Offline shop copilot, open weights, running locally</a:t>
            </a:r>
            <a:endParaRPr lang="en-US" sz="1400" dirty="0"/>
          </a:p>
        </p:txBody>
      </p:sp>
      <p:sp>
        <p:nvSpPr>
          <p:cNvPr id="28" name="Text 26"/>
          <p:cNvSpPr/>
          <p:nvPr/>
        </p:nvSpPr>
        <p:spPr>
          <a:xfrm>
            <a:off x="11104860" y="4343152"/>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AB7B2"/>
                </a:solidFill>
                <a:latin typeface="JetBrains Mono" pitchFamily="49" charset="0"/>
                <a:ea typeface="JetBrains Mono" pitchFamily="49" charset="-122"/>
                <a:cs typeface="JetBrains Mono" pitchFamily="49" charset="-120"/>
              </a:rPr>
              <a:t>P1+</a:t>
            </a:r>
            <a:endParaRPr lang="en-US" sz="1200" dirty="0"/>
          </a:p>
        </p:txBody>
      </p:sp>
      <p:sp>
        <p:nvSpPr>
          <p:cNvPr id="29" name="Text 27"/>
          <p:cNvSpPr/>
          <p:nvPr/>
        </p:nvSpPr>
        <p:spPr>
          <a:xfrm>
            <a:off x="812800" y="494893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AB7B2"/>
                </a:solidFill>
                <a:latin typeface="Inter" pitchFamily="34" charset="0"/>
                <a:ea typeface="Inter" pitchFamily="34" charset="-122"/>
                <a:cs typeface="Inter" pitchFamily="34" charset="-120"/>
              </a:rPr>
              <a:t>Models perceive, reason and imagine. </a:t>
            </a:r>
            <a:r>
              <a:rPr lang="en-US" sz="1600" dirty="0">
                <a:solidFill>
                  <a:srgbClr val="EC785B"/>
                </a:solidFill>
                <a:latin typeface="Inter" pitchFamily="34" charset="0"/>
                <a:ea typeface="Inter" pitchFamily="34" charset="-122"/>
                <a:cs typeface="Inter" pitchFamily="34" charset="-120"/>
              </a:rPr>
              <a:t>Code measures and builds geometry.</a:t>
            </a:r>
            <a:r>
              <a:rPr lang="en-US" sz="1600" dirty="0">
                <a:solidFill>
                  <a:srgbClr val="BAB7B2"/>
                </a:solidFill>
                <a:latin typeface="Inter" pitchFamily="34" charset="0"/>
                <a:ea typeface="Inter" pitchFamily="34" charset="-122"/>
                <a:cs typeface="Inter" pitchFamily="34" charset="-120"/>
              </a:rPr>
              <a:t> Built with Muse Code.</a:t>
            </a:r>
            <a:endParaRPr lang="en-US" sz="16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AB7B2"/>
                </a:solidFill>
                <a:latin typeface="JetBrains Mono" pitchFamily="49" charset="0"/>
                <a:ea typeface="JetBrains Mono" pitchFamily="49" charset="-122"/>
                <a:cs typeface="JetBrains Mono" pitchFamily="49" charset="-120"/>
              </a:rPr>
              <a:t>Burn-E · Snap → Make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711200"/>
            <a:ext cx="511380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NINE DAYS</a:t>
            </a:r>
            <a:endParaRPr lang="en-US" sz="1200" dirty="0"/>
          </a:p>
        </p:txBody>
      </p:sp>
      <p:sp>
        <p:nvSpPr>
          <p:cNvPr id="3" name="Text 1"/>
          <p:cNvSpPr/>
          <p:nvPr>
            <p:ph type="title"/>
          </p:nvPr>
        </p:nvSpPr>
        <p:spPr>
          <a:xfrm>
            <a:off x="812800" y="1051520"/>
            <a:ext cx="5957828" cy="505420"/>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From spikes to submission.</a:t>
            </a:r>
            <a:endParaRPr lang="en-US" sz="3600" dirty="0"/>
          </a:p>
        </p:txBody>
      </p:sp>
      <p:sp>
        <p:nvSpPr>
          <p:cNvPr id="4" name="Text 2"/>
          <p:cNvSpPr/>
          <p:nvPr/>
        </p:nvSpPr>
        <p:spPr>
          <a:xfrm>
            <a:off x="8636000" y="1318220"/>
            <a:ext cx="282549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each day ends with a demo clip</a:t>
            </a:r>
            <a:endParaRPr lang="en-US" sz="1200" dirty="0"/>
          </a:p>
        </p:txBody>
      </p:sp>
      <p:sp>
        <p:nvSpPr>
          <p:cNvPr id="5" name="Shape 3"/>
          <p:cNvSpPr/>
          <p:nvPr/>
        </p:nvSpPr>
        <p:spPr>
          <a:xfrm>
            <a:off x="815975" y="1788716"/>
            <a:ext cx="2005310" cy="1605111"/>
          </a:xfrm>
          <a:prstGeom prst="roundRect">
            <a:avLst>
              <a:gd name="adj" fmla="val 7714"/>
            </a:avLst>
          </a:prstGeom>
          <a:solidFill>
            <a:srgbClr val="F3F0E9"/>
          </a:solidFill>
          <a:ln w="6350">
            <a:solidFill>
              <a:srgbClr val="DCD7CD"/>
            </a:solidFill>
            <a:prstDash val="solid"/>
          </a:ln>
        </p:spPr>
      </p:sp>
      <p:sp>
        <p:nvSpPr>
          <p:cNvPr id="6" name="Text 4"/>
          <p:cNvSpPr/>
          <p:nvPr/>
        </p:nvSpPr>
        <p:spPr>
          <a:xfrm>
            <a:off x="996950" y="196969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D0 · 10/26</a:t>
            </a:r>
            <a:endParaRPr lang="en-US" sz="1200" dirty="0"/>
          </a:p>
        </p:txBody>
      </p:sp>
      <p:sp>
        <p:nvSpPr>
          <p:cNvPr id="7" name="Text 5"/>
          <p:cNvSpPr/>
          <p:nvPr/>
        </p:nvSpPr>
        <p:spPr>
          <a:xfrm>
            <a:off x="996950" y="2246511"/>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Orientation</a:t>
            </a:r>
            <a:endParaRPr lang="en-US" sz="1800" dirty="0"/>
          </a:p>
        </p:txBody>
      </p:sp>
      <p:sp>
        <p:nvSpPr>
          <p:cNvPr id="8" name="Text 6"/>
          <p:cNvSpPr/>
          <p:nvPr/>
        </p:nvSpPr>
        <p:spPr>
          <a:xfrm>
            <a:off x="996950" y="25728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PRD frozen, keys, 10 caliper-checked photos</a:t>
            </a:r>
            <a:endParaRPr lang="en-US" sz="1200" dirty="0"/>
          </a:p>
        </p:txBody>
      </p:sp>
      <p:sp>
        <p:nvSpPr>
          <p:cNvPr id="9" name="Shape 7"/>
          <p:cNvSpPr/>
          <p:nvPr/>
        </p:nvSpPr>
        <p:spPr>
          <a:xfrm>
            <a:off x="2954635" y="1788716"/>
            <a:ext cx="2005310" cy="1605111"/>
          </a:xfrm>
          <a:prstGeom prst="roundRect">
            <a:avLst>
              <a:gd name="adj" fmla="val 7714"/>
            </a:avLst>
          </a:prstGeom>
          <a:solidFill>
            <a:srgbClr val="F3F0E9"/>
          </a:solidFill>
          <a:ln w="6350">
            <a:solidFill>
              <a:srgbClr val="DCD7CD"/>
            </a:solidFill>
            <a:prstDash val="solid"/>
          </a:ln>
        </p:spPr>
      </p:sp>
      <p:sp>
        <p:nvSpPr>
          <p:cNvPr id="10" name="Text 8"/>
          <p:cNvSpPr/>
          <p:nvPr/>
        </p:nvSpPr>
        <p:spPr>
          <a:xfrm>
            <a:off x="3135610" y="196969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D1 · 10/27</a:t>
            </a:r>
            <a:endParaRPr lang="en-US" sz="1200" dirty="0"/>
          </a:p>
        </p:txBody>
      </p:sp>
      <p:sp>
        <p:nvSpPr>
          <p:cNvPr id="11" name="Text 9"/>
          <p:cNvSpPr/>
          <p:nvPr/>
        </p:nvSpPr>
        <p:spPr>
          <a:xfrm>
            <a:off x="3135610" y="2246511"/>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Spikes</a:t>
            </a:r>
            <a:endParaRPr lang="en-US" sz="1800" dirty="0"/>
          </a:p>
        </p:txBody>
      </p:sp>
      <p:sp>
        <p:nvSpPr>
          <p:cNvPr id="12" name="Text 10"/>
          <p:cNvSpPr/>
          <p:nvPr/>
        </p:nvSpPr>
        <p:spPr>
          <a:xfrm>
            <a:off x="3135610" y="2572891"/>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Photo → masks → mm within ±5%</a:t>
            </a:r>
            <a:endParaRPr lang="en-US" sz="1200" dirty="0"/>
          </a:p>
        </p:txBody>
      </p:sp>
      <p:sp>
        <p:nvSpPr>
          <p:cNvPr id="13" name="Shape 11"/>
          <p:cNvSpPr/>
          <p:nvPr/>
        </p:nvSpPr>
        <p:spPr>
          <a:xfrm>
            <a:off x="5093295" y="1788716"/>
            <a:ext cx="2005360" cy="1605111"/>
          </a:xfrm>
          <a:prstGeom prst="roundRect">
            <a:avLst>
              <a:gd name="adj" fmla="val 7714"/>
            </a:avLst>
          </a:prstGeom>
          <a:solidFill>
            <a:srgbClr val="F3F0E9"/>
          </a:solidFill>
          <a:ln w="6350">
            <a:solidFill>
              <a:srgbClr val="DCD7CD"/>
            </a:solidFill>
            <a:prstDash val="solid"/>
          </a:ln>
        </p:spPr>
      </p:sp>
      <p:sp>
        <p:nvSpPr>
          <p:cNvPr id="14" name="Text 12"/>
          <p:cNvSpPr/>
          <p:nvPr/>
        </p:nvSpPr>
        <p:spPr>
          <a:xfrm>
            <a:off x="5274270" y="1969691"/>
            <a:ext cx="1694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D2 · 10/28</a:t>
            </a:r>
            <a:endParaRPr lang="en-US" sz="1200" dirty="0"/>
          </a:p>
        </p:txBody>
      </p:sp>
      <p:sp>
        <p:nvSpPr>
          <p:cNvPr id="15" name="Text 13"/>
          <p:cNvSpPr/>
          <p:nvPr/>
        </p:nvSpPr>
        <p:spPr>
          <a:xfrm>
            <a:off x="5274270" y="2246511"/>
            <a:ext cx="169421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Geometry</a:t>
            </a:r>
            <a:endParaRPr lang="en-US" sz="1800" dirty="0"/>
          </a:p>
        </p:txBody>
      </p:sp>
      <p:sp>
        <p:nvSpPr>
          <p:cNvPr id="16" name="Text 14"/>
          <p:cNvSpPr/>
          <p:nvPr/>
        </p:nvSpPr>
        <p:spPr>
          <a:xfrm>
            <a:off x="5274270" y="2572891"/>
            <a:ext cx="16942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Templates and nesting; valid G-code</a:t>
            </a:r>
            <a:endParaRPr lang="en-US" sz="1200" dirty="0"/>
          </a:p>
        </p:txBody>
      </p:sp>
      <p:sp>
        <p:nvSpPr>
          <p:cNvPr id="17" name="Shape 15"/>
          <p:cNvSpPr/>
          <p:nvPr/>
        </p:nvSpPr>
        <p:spPr>
          <a:xfrm>
            <a:off x="7232005" y="1788716"/>
            <a:ext cx="2005310" cy="1605111"/>
          </a:xfrm>
          <a:prstGeom prst="roundRect">
            <a:avLst>
              <a:gd name="adj" fmla="val 7714"/>
            </a:avLst>
          </a:prstGeom>
          <a:solidFill>
            <a:srgbClr val="F3F0E9"/>
          </a:solidFill>
          <a:ln w="6350">
            <a:solidFill>
              <a:srgbClr val="DCD7CD"/>
            </a:solidFill>
            <a:prstDash val="solid"/>
          </a:ln>
        </p:spPr>
      </p:sp>
      <p:sp>
        <p:nvSpPr>
          <p:cNvPr id="18" name="Text 16"/>
          <p:cNvSpPr/>
          <p:nvPr/>
        </p:nvSpPr>
        <p:spPr>
          <a:xfrm>
            <a:off x="7412980" y="196969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D3 · 10/29</a:t>
            </a:r>
            <a:endParaRPr lang="en-US" sz="1200" dirty="0"/>
          </a:p>
        </p:txBody>
      </p:sp>
      <p:sp>
        <p:nvSpPr>
          <p:cNvPr id="19" name="Text 17"/>
          <p:cNvSpPr/>
          <p:nvPr/>
        </p:nvSpPr>
        <p:spPr>
          <a:xfrm>
            <a:off x="7412980" y="2246511"/>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UI flow I</a:t>
            </a:r>
            <a:endParaRPr lang="en-US" sz="1800" dirty="0"/>
          </a:p>
        </p:txBody>
      </p:sp>
      <p:sp>
        <p:nvSpPr>
          <p:cNvPr id="20" name="Text 18"/>
          <p:cNvSpPr/>
          <p:nvPr/>
        </p:nvSpPr>
        <p:spPr>
          <a:xfrm>
            <a:off x="7412980" y="2572891"/>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Voice → photo → measured plan</a:t>
            </a:r>
            <a:endParaRPr lang="en-US" sz="1200" dirty="0"/>
          </a:p>
        </p:txBody>
      </p:sp>
      <p:sp>
        <p:nvSpPr>
          <p:cNvPr id="21" name="Shape 19"/>
          <p:cNvSpPr/>
          <p:nvPr/>
        </p:nvSpPr>
        <p:spPr>
          <a:xfrm>
            <a:off x="9370665" y="1788716"/>
            <a:ext cx="2005310" cy="1605111"/>
          </a:xfrm>
          <a:prstGeom prst="roundRect">
            <a:avLst>
              <a:gd name="adj" fmla="val 7714"/>
            </a:avLst>
          </a:prstGeom>
          <a:solidFill>
            <a:srgbClr val="FBE2D9"/>
          </a:solidFill>
          <a:ln w="6350">
            <a:solidFill>
              <a:srgbClr val="C25237"/>
            </a:solidFill>
            <a:prstDash val="solid"/>
          </a:ln>
        </p:spPr>
      </p:sp>
      <p:sp>
        <p:nvSpPr>
          <p:cNvPr id="22" name="Text 20"/>
          <p:cNvSpPr/>
          <p:nvPr/>
        </p:nvSpPr>
        <p:spPr>
          <a:xfrm>
            <a:off x="9551640" y="1969691"/>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5237"/>
                </a:solidFill>
                <a:latin typeface="JetBrains Mono" pitchFamily="49" charset="0"/>
                <a:ea typeface="JetBrains Mono" pitchFamily="49" charset="-122"/>
                <a:cs typeface="JetBrains Mono" pitchFamily="49" charset="-120"/>
              </a:rPr>
              <a:t>D4 · 10/30</a:t>
            </a:r>
            <a:endParaRPr lang="en-US" sz="1200" dirty="0"/>
          </a:p>
        </p:txBody>
      </p:sp>
      <p:sp>
        <p:nvSpPr>
          <p:cNvPr id="23" name="Text 21"/>
          <p:cNvSpPr/>
          <p:nvPr/>
        </p:nvSpPr>
        <p:spPr>
          <a:xfrm>
            <a:off x="9551640" y="2246511"/>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UI flow II</a:t>
            </a:r>
            <a:endParaRPr lang="en-US" sz="1800" dirty="0"/>
          </a:p>
        </p:txBody>
      </p:sp>
      <p:sp>
        <p:nvSpPr>
          <p:cNvPr id="24" name="Text 22"/>
          <p:cNvSpPr/>
          <p:nvPr/>
        </p:nvSpPr>
        <p:spPr>
          <a:xfrm>
            <a:off x="9551640" y="2572891"/>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1916"/>
                </a:solidFill>
                <a:latin typeface="Inter" pitchFamily="34" charset="0"/>
                <a:ea typeface="Inter" pitchFamily="34" charset="-122"/>
                <a:cs typeface="Inter" pitchFamily="34" charset="-120"/>
              </a:rPr>
              <a:t>Full journey end to end · feature freeze</a:t>
            </a:r>
            <a:endParaRPr lang="en-US" sz="1200" dirty="0"/>
          </a:p>
        </p:txBody>
      </p:sp>
      <p:sp>
        <p:nvSpPr>
          <p:cNvPr id="25" name="Shape 23"/>
          <p:cNvSpPr/>
          <p:nvPr/>
        </p:nvSpPr>
        <p:spPr>
          <a:xfrm>
            <a:off x="815975" y="3527177"/>
            <a:ext cx="2005310" cy="1391791"/>
          </a:xfrm>
          <a:prstGeom prst="roundRect">
            <a:avLst>
              <a:gd name="adj" fmla="val 8897"/>
            </a:avLst>
          </a:prstGeom>
          <a:solidFill>
            <a:srgbClr val="F3F0E9"/>
          </a:solidFill>
          <a:ln w="6350">
            <a:solidFill>
              <a:srgbClr val="DCD7CD"/>
            </a:solidFill>
            <a:prstDash val="solid"/>
          </a:ln>
        </p:spPr>
      </p:sp>
      <p:sp>
        <p:nvSpPr>
          <p:cNvPr id="26" name="Text 24"/>
          <p:cNvSpPr/>
          <p:nvPr/>
        </p:nvSpPr>
        <p:spPr>
          <a:xfrm>
            <a:off x="996950" y="37081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D5 · 10/31</a:t>
            </a:r>
            <a:endParaRPr lang="en-US" sz="1200" dirty="0"/>
          </a:p>
        </p:txBody>
      </p:sp>
      <p:sp>
        <p:nvSpPr>
          <p:cNvPr id="27" name="Text 25"/>
          <p:cNvSpPr/>
          <p:nvPr/>
        </p:nvSpPr>
        <p:spPr>
          <a:xfrm>
            <a:off x="996950" y="3984972"/>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Wow layer</a:t>
            </a:r>
            <a:endParaRPr lang="en-US" sz="1800" dirty="0"/>
          </a:p>
        </p:txBody>
      </p:sp>
      <p:sp>
        <p:nvSpPr>
          <p:cNvPr id="28" name="Text 26"/>
          <p:cNvSpPr/>
          <p:nvPr/>
        </p:nvSpPr>
        <p:spPr>
          <a:xfrm>
            <a:off x="996950" y="4311352"/>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Burn Watch, Wonder batch, public URL</a:t>
            </a:r>
            <a:endParaRPr lang="en-US" sz="1200" dirty="0"/>
          </a:p>
        </p:txBody>
      </p:sp>
      <p:sp>
        <p:nvSpPr>
          <p:cNvPr id="29" name="Shape 27"/>
          <p:cNvSpPr/>
          <p:nvPr/>
        </p:nvSpPr>
        <p:spPr>
          <a:xfrm>
            <a:off x="2954635" y="3527177"/>
            <a:ext cx="2005310" cy="1391791"/>
          </a:xfrm>
          <a:prstGeom prst="roundRect">
            <a:avLst>
              <a:gd name="adj" fmla="val 8897"/>
            </a:avLst>
          </a:prstGeom>
          <a:solidFill>
            <a:srgbClr val="F3F0E9"/>
          </a:solidFill>
          <a:ln w="6350">
            <a:solidFill>
              <a:srgbClr val="DCD7CD"/>
            </a:solidFill>
            <a:prstDash val="solid"/>
          </a:ln>
        </p:spPr>
      </p:sp>
      <p:sp>
        <p:nvSpPr>
          <p:cNvPr id="30" name="Text 28"/>
          <p:cNvSpPr/>
          <p:nvPr/>
        </p:nvSpPr>
        <p:spPr>
          <a:xfrm>
            <a:off x="3135610" y="37081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D6 · 11/1</a:t>
            </a:r>
            <a:endParaRPr lang="en-US" sz="1200" dirty="0"/>
          </a:p>
        </p:txBody>
      </p:sp>
      <p:sp>
        <p:nvSpPr>
          <p:cNvPr id="31" name="Text 29"/>
          <p:cNvSpPr/>
          <p:nvPr/>
        </p:nvSpPr>
        <p:spPr>
          <a:xfrm>
            <a:off x="3135610" y="3984972"/>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Polish</a:t>
            </a:r>
            <a:endParaRPr lang="en-US" sz="1800" dirty="0"/>
          </a:p>
        </p:txBody>
      </p:sp>
      <p:sp>
        <p:nvSpPr>
          <p:cNvPr id="32" name="Text 30"/>
          <p:cNvSpPr/>
          <p:nvPr/>
        </p:nvSpPr>
        <p:spPr>
          <a:xfrm>
            <a:off x="3135610" y="4311352"/>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Theme, motion, eval table</a:t>
            </a:r>
            <a:endParaRPr lang="en-US" sz="1200" dirty="0"/>
          </a:p>
        </p:txBody>
      </p:sp>
      <p:sp>
        <p:nvSpPr>
          <p:cNvPr id="33" name="Shape 31"/>
          <p:cNvSpPr/>
          <p:nvPr/>
        </p:nvSpPr>
        <p:spPr>
          <a:xfrm>
            <a:off x="5093295" y="3527177"/>
            <a:ext cx="2005360" cy="1391791"/>
          </a:xfrm>
          <a:prstGeom prst="roundRect">
            <a:avLst>
              <a:gd name="adj" fmla="val 8897"/>
            </a:avLst>
          </a:prstGeom>
          <a:solidFill>
            <a:srgbClr val="F3F0E9"/>
          </a:solidFill>
          <a:ln w="6350">
            <a:solidFill>
              <a:srgbClr val="DCD7CD"/>
            </a:solidFill>
            <a:prstDash val="solid"/>
          </a:ln>
        </p:spPr>
      </p:sp>
      <p:sp>
        <p:nvSpPr>
          <p:cNvPr id="34" name="Text 32"/>
          <p:cNvSpPr/>
          <p:nvPr/>
        </p:nvSpPr>
        <p:spPr>
          <a:xfrm>
            <a:off x="5274270" y="3708152"/>
            <a:ext cx="1694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D7 · 11/2</a:t>
            </a:r>
            <a:endParaRPr lang="en-US" sz="1200" dirty="0"/>
          </a:p>
        </p:txBody>
      </p:sp>
      <p:sp>
        <p:nvSpPr>
          <p:cNvPr id="35" name="Text 33"/>
          <p:cNvSpPr/>
          <p:nvPr/>
        </p:nvSpPr>
        <p:spPr>
          <a:xfrm>
            <a:off x="5274270" y="3984972"/>
            <a:ext cx="169421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Real burns</a:t>
            </a:r>
            <a:endParaRPr lang="en-US" sz="1800" dirty="0"/>
          </a:p>
        </p:txBody>
      </p:sp>
      <p:sp>
        <p:nvSpPr>
          <p:cNvPr id="36" name="Text 34"/>
          <p:cNvSpPr/>
          <p:nvPr/>
        </p:nvSpPr>
        <p:spPr>
          <a:xfrm>
            <a:off x="5274270" y="4311352"/>
            <a:ext cx="16942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Burn and film the hero project</a:t>
            </a:r>
            <a:endParaRPr lang="en-US" sz="1200" dirty="0"/>
          </a:p>
        </p:txBody>
      </p:sp>
      <p:sp>
        <p:nvSpPr>
          <p:cNvPr id="37" name="Shape 35"/>
          <p:cNvSpPr/>
          <p:nvPr/>
        </p:nvSpPr>
        <p:spPr>
          <a:xfrm>
            <a:off x="7232005" y="3527177"/>
            <a:ext cx="2005310" cy="1391791"/>
          </a:xfrm>
          <a:prstGeom prst="roundRect">
            <a:avLst>
              <a:gd name="adj" fmla="val 8897"/>
            </a:avLst>
          </a:prstGeom>
          <a:solidFill>
            <a:srgbClr val="F3F0E9"/>
          </a:solidFill>
          <a:ln w="6350">
            <a:solidFill>
              <a:srgbClr val="DCD7CD"/>
            </a:solidFill>
            <a:prstDash val="solid"/>
          </a:ln>
        </p:spPr>
      </p:sp>
      <p:sp>
        <p:nvSpPr>
          <p:cNvPr id="38" name="Text 36"/>
          <p:cNvSpPr/>
          <p:nvPr/>
        </p:nvSpPr>
        <p:spPr>
          <a:xfrm>
            <a:off x="7412980" y="37081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D8 · 11/3</a:t>
            </a:r>
            <a:endParaRPr lang="en-US" sz="1200" dirty="0"/>
          </a:p>
        </p:txBody>
      </p:sp>
      <p:sp>
        <p:nvSpPr>
          <p:cNvPr id="39" name="Text 37"/>
          <p:cNvSpPr/>
          <p:nvPr/>
        </p:nvSpPr>
        <p:spPr>
          <a:xfrm>
            <a:off x="7412980" y="3984972"/>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Story</a:t>
            </a:r>
            <a:endParaRPr lang="en-US" sz="1800" dirty="0"/>
          </a:p>
        </p:txBody>
      </p:sp>
      <p:sp>
        <p:nvSpPr>
          <p:cNvPr id="40" name="Text 38"/>
          <p:cNvSpPr/>
          <p:nvPr/>
        </p:nvSpPr>
        <p:spPr>
          <a:xfrm>
            <a:off x="7412980" y="4311352"/>
            <a:ext cx="1694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Inter" pitchFamily="34" charset="0"/>
                <a:ea typeface="Inter" pitchFamily="34" charset="-122"/>
                <a:cs typeface="Inter" pitchFamily="34" charset="-120"/>
              </a:rPr>
              <a:t>3-min video, deck, white paper</a:t>
            </a:r>
            <a:endParaRPr lang="en-US" sz="1200" dirty="0"/>
          </a:p>
        </p:txBody>
      </p:sp>
      <p:sp>
        <p:nvSpPr>
          <p:cNvPr id="41" name="Shape 39"/>
          <p:cNvSpPr/>
          <p:nvPr/>
        </p:nvSpPr>
        <p:spPr>
          <a:xfrm>
            <a:off x="9370665" y="3527177"/>
            <a:ext cx="2005310" cy="1391791"/>
          </a:xfrm>
          <a:prstGeom prst="roundRect">
            <a:avLst>
              <a:gd name="adj" fmla="val 8897"/>
            </a:avLst>
          </a:prstGeom>
          <a:solidFill>
            <a:srgbClr val="1F1916"/>
          </a:solidFill>
          <a:ln w="6350">
            <a:solidFill>
              <a:srgbClr val="1F1916"/>
            </a:solidFill>
            <a:prstDash val="solid"/>
          </a:ln>
        </p:spPr>
      </p:sp>
      <p:sp>
        <p:nvSpPr>
          <p:cNvPr id="42" name="Text 40"/>
          <p:cNvSpPr/>
          <p:nvPr/>
        </p:nvSpPr>
        <p:spPr>
          <a:xfrm>
            <a:off x="9551640" y="37081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785B"/>
                </a:solidFill>
                <a:latin typeface="JetBrains Mono" pitchFamily="49" charset="0"/>
                <a:ea typeface="JetBrains Mono" pitchFamily="49" charset="-122"/>
                <a:cs typeface="JetBrains Mono" pitchFamily="49" charset="-120"/>
              </a:rPr>
              <a:t>D9 · 11/4</a:t>
            </a:r>
            <a:endParaRPr lang="en-US" sz="1200" dirty="0"/>
          </a:p>
        </p:txBody>
      </p:sp>
      <p:sp>
        <p:nvSpPr>
          <p:cNvPr id="43" name="Text 41"/>
          <p:cNvSpPr/>
          <p:nvPr/>
        </p:nvSpPr>
        <p:spPr>
          <a:xfrm>
            <a:off x="9551640" y="3984972"/>
            <a:ext cx="1694160"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EEEBE5"/>
                </a:solidFill>
                <a:latin typeface="Fraunces" pitchFamily="18" charset="0"/>
                <a:ea typeface="Fraunces" pitchFamily="18" charset="-122"/>
                <a:cs typeface="Fraunces" pitchFamily="18" charset="-120"/>
              </a:rPr>
              <a:t>Ship</a:t>
            </a:r>
            <a:endParaRPr lang="en-US" sz="1800" dirty="0"/>
          </a:p>
        </p:txBody>
      </p:sp>
      <p:sp>
        <p:nvSpPr>
          <p:cNvPr id="44" name="Text 42"/>
          <p:cNvSpPr/>
          <p:nvPr/>
        </p:nvSpPr>
        <p:spPr>
          <a:xfrm>
            <a:off x="9551640" y="431135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AB7B2"/>
                </a:solidFill>
                <a:latin typeface="Inter" pitchFamily="34" charset="0"/>
                <a:ea typeface="Inter" pitchFamily="34" charset="-122"/>
                <a:cs typeface="Inter" pitchFamily="34" charset="-120"/>
              </a:rPr>
              <a:t>Submit by noon ET</a:t>
            </a:r>
            <a:endParaRPr lang="en-US" sz="1200" dirty="0"/>
          </a:p>
        </p:txBody>
      </p:sp>
      <p:sp>
        <p:nvSpPr>
          <p:cNvPr id="45" name="Text 4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6F1"/>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25237"/>
                </a:solidFill>
                <a:latin typeface="JetBrains Mono" pitchFamily="49" charset="0"/>
                <a:ea typeface="JetBrains Mono" pitchFamily="49" charset="-122"/>
                <a:cs typeface="JetBrains Mono" pitchFamily="49" charset="-120"/>
              </a:rPr>
              <a:t>NEVER CUT</a:t>
            </a:r>
            <a:endParaRPr lang="en-US" sz="1200" dirty="0"/>
          </a:p>
        </p:txBody>
      </p:sp>
      <p:sp>
        <p:nvSpPr>
          <p:cNvPr id="3" name="Text 1"/>
          <p:cNvSpPr/>
          <p:nvPr>
            <p:ph type="title"/>
          </p:nvPr>
        </p:nvSpPr>
        <p:spPr>
          <a:xfrm>
            <a:off x="812800" y="1051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0" i="0" spc="-100" kern="0" dirty="0">
                <a:solidFill>
                  <a:srgbClr val="1F1916"/>
                </a:solidFill>
                <a:latin typeface="Fraunces" pitchFamily="18" charset="0"/>
                <a:ea typeface="Fraunces" pitchFamily="18" charset="-122"/>
                <a:cs typeface="Fraunces" pitchFamily="18" charset="-120"/>
              </a:rPr>
              <a:t>This chain is the pitch.</a:t>
            </a:r>
            <a:endParaRPr lang="en-US" sz="3600" dirty="0"/>
          </a:p>
        </p:txBody>
      </p:sp>
      <p:sp>
        <p:nvSpPr>
          <p:cNvPr id="4" name="Text 2"/>
          <p:cNvSpPr/>
          <p:nvPr/>
        </p:nvSpPr>
        <p:spPr>
          <a:xfrm>
            <a:off x="812800" y="1785541"/>
            <a:ext cx="83820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voice</a:t>
            </a:r>
            <a:endParaRPr lang="en-US" sz="1400" dirty="0"/>
          </a:p>
        </p:txBody>
      </p:sp>
      <p:sp>
        <p:nvSpPr>
          <p:cNvPr id="5" name="Text 3"/>
          <p:cNvSpPr/>
          <p:nvPr/>
        </p:nvSpPr>
        <p:spPr>
          <a:xfrm>
            <a:off x="175260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6" name="Text 4"/>
          <p:cNvSpPr/>
          <p:nvPr/>
        </p:nvSpPr>
        <p:spPr>
          <a:xfrm>
            <a:off x="2032000" y="1785541"/>
            <a:ext cx="83820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scene</a:t>
            </a:r>
            <a:endParaRPr lang="en-US" sz="1400" dirty="0"/>
          </a:p>
        </p:txBody>
      </p:sp>
      <p:sp>
        <p:nvSpPr>
          <p:cNvPr id="7" name="Text 5"/>
          <p:cNvSpPr/>
          <p:nvPr/>
        </p:nvSpPr>
        <p:spPr>
          <a:xfrm>
            <a:off x="297180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8" name="Text 6"/>
          <p:cNvSpPr/>
          <p:nvPr/>
        </p:nvSpPr>
        <p:spPr>
          <a:xfrm>
            <a:off x="3251200" y="1785541"/>
            <a:ext cx="105157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measure</a:t>
            </a:r>
            <a:endParaRPr lang="en-US" sz="1400" dirty="0"/>
          </a:p>
        </p:txBody>
      </p:sp>
      <p:sp>
        <p:nvSpPr>
          <p:cNvPr id="9" name="Text 7"/>
          <p:cNvSpPr/>
          <p:nvPr/>
        </p:nvSpPr>
        <p:spPr>
          <a:xfrm>
            <a:off x="440437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4683770" y="1785541"/>
            <a:ext cx="137160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DesignSpec</a:t>
            </a:r>
            <a:endParaRPr lang="en-US" sz="1400" dirty="0"/>
          </a:p>
        </p:txBody>
      </p:sp>
      <p:sp>
        <p:nvSpPr>
          <p:cNvPr id="11" name="Text 9"/>
          <p:cNvSpPr/>
          <p:nvPr/>
        </p:nvSpPr>
        <p:spPr>
          <a:xfrm>
            <a:off x="615697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12" name="Text 10"/>
          <p:cNvSpPr/>
          <p:nvPr/>
        </p:nvSpPr>
        <p:spPr>
          <a:xfrm>
            <a:off x="6436370" y="1785541"/>
            <a:ext cx="169163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art + preview</a:t>
            </a:r>
            <a:endParaRPr lang="en-US" sz="1400" dirty="0"/>
          </a:p>
        </p:txBody>
      </p:sp>
      <p:sp>
        <p:nvSpPr>
          <p:cNvPr id="13" name="Text 11"/>
          <p:cNvSpPr/>
          <p:nvPr/>
        </p:nvSpPr>
        <p:spPr>
          <a:xfrm>
            <a:off x="822960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14" name="Text 12"/>
          <p:cNvSpPr/>
          <p:nvPr/>
        </p:nvSpPr>
        <p:spPr>
          <a:xfrm>
            <a:off x="8509000" y="1785541"/>
            <a:ext cx="94491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canvas</a:t>
            </a:r>
            <a:endParaRPr lang="en-US" sz="1400" dirty="0"/>
          </a:p>
        </p:txBody>
      </p:sp>
      <p:sp>
        <p:nvSpPr>
          <p:cNvPr id="15" name="Text 13"/>
          <p:cNvSpPr/>
          <p:nvPr/>
        </p:nvSpPr>
        <p:spPr>
          <a:xfrm>
            <a:off x="955551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16" name="Text 14"/>
          <p:cNvSpPr/>
          <p:nvPr/>
        </p:nvSpPr>
        <p:spPr>
          <a:xfrm>
            <a:off x="9834910" y="1785541"/>
            <a:ext cx="94491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G-code</a:t>
            </a:r>
            <a:endParaRPr lang="en-US" sz="1400" dirty="0"/>
          </a:p>
        </p:txBody>
      </p:sp>
      <p:sp>
        <p:nvSpPr>
          <p:cNvPr id="17" name="Text 15"/>
          <p:cNvSpPr/>
          <p:nvPr/>
        </p:nvSpPr>
        <p:spPr>
          <a:xfrm>
            <a:off x="10881420" y="186174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8413D"/>
                </a:solidFill>
                <a:latin typeface="Inter" pitchFamily="34" charset="0"/>
                <a:ea typeface="Inter" pitchFamily="34" charset="-122"/>
                <a:cs typeface="Inter" pitchFamily="34" charset="-120"/>
              </a:rPr>
              <a:t>→</a:t>
            </a:r>
            <a:endParaRPr lang="en-US" sz="1400" dirty="0"/>
          </a:p>
        </p:txBody>
      </p:sp>
      <p:sp>
        <p:nvSpPr>
          <p:cNvPr id="18" name="Text 16"/>
          <p:cNvSpPr/>
          <p:nvPr/>
        </p:nvSpPr>
        <p:spPr>
          <a:xfrm>
            <a:off x="812800" y="2288431"/>
            <a:ext cx="1798340" cy="401290"/>
          </a:xfrm>
          <a:prstGeom prst="roundRect">
            <a:avLst>
              <a:gd name="adj" fmla="val 50000"/>
            </a:avLst>
          </a:prstGeom>
          <a:solidFill>
            <a:srgbClr val="FBE2D9"/>
          </a:solidFill>
          <a:ln/>
        </p:spPr>
        <p:txBody>
          <a:bodyPr wrap="none" lIns="0" tIns="0" rIns="0" bIns="0" rtlCol="0" anchor="ctr">
            <a:normAutofit/>
          </a:bodyPr>
          <a:lstStyle/>
          <a:p>
            <a:pPr algn="ctr" indent="0" marL="0">
              <a:lnSpc>
                <a:spcPts val="1960"/>
              </a:lnSpc>
              <a:buNone/>
            </a:pPr>
            <a:r>
              <a:rPr lang="en-US" sz="1400" dirty="0">
                <a:solidFill>
                  <a:srgbClr val="1F1916"/>
                </a:solidFill>
                <a:latin typeface="JetBrains Mono" pitchFamily="49" charset="0"/>
                <a:ea typeface="JetBrains Mono" pitchFamily="49" charset="-122"/>
                <a:cs typeface="JetBrains Mono" pitchFamily="49" charset="-120"/>
              </a:rPr>
              <a:t>under the hood</a:t>
            </a:r>
            <a:endParaRPr lang="en-US" sz="1400" dirty="0"/>
          </a:p>
        </p:txBody>
      </p:sp>
      <p:sp>
        <p:nvSpPr>
          <p:cNvPr id="19" name="Shape 17"/>
          <p:cNvSpPr/>
          <p:nvPr/>
        </p:nvSpPr>
        <p:spPr>
          <a:xfrm>
            <a:off x="815975" y="2946896"/>
            <a:ext cx="5175250" cy="2243882"/>
          </a:xfrm>
          <a:prstGeom prst="roundRect">
            <a:avLst>
              <a:gd name="adj" fmla="val 5518"/>
            </a:avLst>
          </a:prstGeom>
          <a:solidFill>
            <a:srgbClr val="F3F0E9"/>
          </a:solidFill>
          <a:ln w="6350">
            <a:solidFill>
              <a:srgbClr val="DCD7CD"/>
            </a:solidFill>
            <a:prstDash val="solid"/>
          </a:ln>
        </p:spPr>
      </p:sp>
      <p:sp>
        <p:nvSpPr>
          <p:cNvPr id="20" name="Text 18"/>
          <p:cNvSpPr/>
          <p:nvPr/>
        </p:nvSpPr>
        <p:spPr>
          <a:xfrm>
            <a:off x="1047750" y="3178671"/>
            <a:ext cx="4853051"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If behind, drop from the top</a:t>
            </a:r>
            <a:endParaRPr lang="en-US" sz="1800" dirty="0"/>
          </a:p>
        </p:txBody>
      </p:sp>
      <p:sp>
        <p:nvSpPr>
          <p:cNvPr id="21" name="Text 19"/>
          <p:cNvSpPr/>
          <p:nvPr/>
        </p:nvSpPr>
        <p:spPr>
          <a:xfrm>
            <a:off x="1090960" y="3517751"/>
            <a:ext cx="4802221" cy="1358900"/>
          </a:xfrm>
          <a:prstGeom prst="rect">
            <a:avLst/>
          </a:prstGeom>
          <a:noFill/>
          <a:ln/>
        </p:spPr>
        <p:txBody>
          <a:bodyPr wrap="square" lIns="0" tIns="0" rIns="0" bIns="0" rtlCol="0" anchor="t">
            <a:normAutofit/>
          </a:bodyPr>
          <a:lstStyle/>
          <a:p>
            <a:pPr algn="l" marL="210790" indent="-210790">
              <a:lnSpc>
                <a:spcPts val="2100"/>
              </a:lnSpc>
              <a:buSzPct val="100000"/>
              <a:buFontTx/>
              <a:buAutoNum type="arabicPeriod" startAt="1"/>
            </a:pPr>
            <a:r>
              <a:rPr lang="en-US" sz="1400" dirty="0">
                <a:solidFill>
                  <a:srgbClr val="48413D"/>
                </a:solidFill>
                <a:latin typeface="Inter" pitchFamily="34" charset="0"/>
                <a:ea typeface="Inter" pitchFamily="34" charset="-122"/>
                <a:cs typeface="Inter" pitchFamily="34" charset="-120"/>
              </a:rPr>
              <a:t>Glimmer offline copilot</a:t>
            </a:r>
            <a:endParaRPr lang="en-US" sz="1400" dirty="0"/>
          </a:p>
          <a:p>
            <a:pPr algn="l" marL="210790" indent="-210790">
              <a:lnSpc>
                <a:spcPts val="2100"/>
              </a:lnSpc>
              <a:buSzPct val="100000"/>
              <a:buFontTx/>
              <a:buAutoNum type="arabicPeriod" startAt="1"/>
            </a:pPr>
            <a:r>
              <a:rPr lang="en-US" sz="1400" dirty="0">
                <a:solidFill>
                  <a:srgbClr val="48413D"/>
                </a:solidFill>
                <a:latin typeface="Inter" pitchFamily="34" charset="0"/>
                <a:ea typeface="Inter" pitchFamily="34" charset="-122"/>
                <a:cs typeface="Inter" pitchFamily="34" charset="-120"/>
              </a:rPr>
              <a:t>Live Burn Watch — keep the recorded clip</a:t>
            </a:r>
            <a:endParaRPr lang="en-US" sz="1400" dirty="0"/>
          </a:p>
          <a:p>
            <a:pPr algn="l" marL="210790" indent="-210790">
              <a:lnSpc>
                <a:spcPts val="2100"/>
              </a:lnSpc>
              <a:buSzPct val="100000"/>
              <a:buFontTx/>
              <a:buAutoNum type="arabicPeriod" startAt="1"/>
            </a:pPr>
            <a:r>
              <a:rPr lang="en-US" sz="1400" dirty="0">
                <a:solidFill>
                  <a:srgbClr val="48413D"/>
                </a:solidFill>
                <a:latin typeface="Inter" pitchFamily="34" charset="0"/>
                <a:ea typeface="Inter" pitchFamily="34" charset="-122"/>
                <a:cs typeface="Inter" pitchFamily="34" charset="-120"/>
              </a:rPr>
              <a:t>Share card and multi-turn preview edits</a:t>
            </a:r>
            <a:endParaRPr lang="en-US" sz="1400" dirty="0"/>
          </a:p>
          <a:p>
            <a:pPr algn="l" marL="210790" indent="-210790">
              <a:lnSpc>
                <a:spcPts val="2100"/>
              </a:lnSpc>
              <a:buSzPct val="100000"/>
              <a:buFontTx/>
              <a:buAutoNum type="arabicPeriod" startAt="1"/>
            </a:pPr>
            <a:r>
              <a:rPr lang="en-US" sz="1400" dirty="0">
                <a:solidFill>
                  <a:srgbClr val="48413D"/>
                </a:solidFill>
                <a:latin typeface="Inter" pitchFamily="34" charset="0"/>
                <a:ea typeface="Inter" pitchFamily="34" charset="-122"/>
                <a:cs typeface="Inter" pitchFamily="34" charset="-120"/>
              </a:rPr>
              <a:t>Phone stand and sign templates</a:t>
            </a:r>
            <a:endParaRPr lang="en-US" sz="1400" dirty="0"/>
          </a:p>
          <a:p>
            <a:pPr algn="l" marL="210790" indent="-210790">
              <a:lnSpc>
                <a:spcPts val="2100"/>
              </a:lnSpc>
              <a:buSzPct val="100000"/>
              <a:buFontTx/>
              <a:buAutoNum type="arabicPeriod" startAt="1"/>
            </a:pPr>
            <a:r>
              <a:rPr lang="en-US" sz="1400" dirty="0">
                <a:solidFill>
                  <a:srgbClr val="48413D"/>
                </a:solidFill>
                <a:latin typeface="Inter" pitchFamily="34" charset="0"/>
                <a:ea typeface="Inter" pitchFamily="34" charset="-122"/>
                <a:cs typeface="Inter" pitchFamily="34" charset="-120"/>
              </a:rPr>
              <a:t>Wonder batch → a “coming next” slide</a:t>
            </a:r>
            <a:endParaRPr lang="en-US" sz="1400" dirty="0"/>
          </a:p>
        </p:txBody>
      </p:sp>
      <p:sp>
        <p:nvSpPr>
          <p:cNvPr id="22" name="Shape 20"/>
          <p:cNvSpPr/>
          <p:nvPr/>
        </p:nvSpPr>
        <p:spPr>
          <a:xfrm>
            <a:off x="6200775" y="2946896"/>
            <a:ext cx="5175250" cy="2243882"/>
          </a:xfrm>
          <a:prstGeom prst="roundRect">
            <a:avLst>
              <a:gd name="adj" fmla="val 5518"/>
            </a:avLst>
          </a:prstGeom>
          <a:solidFill>
            <a:srgbClr val="F3F0E9"/>
          </a:solidFill>
          <a:ln w="6350">
            <a:solidFill>
              <a:srgbClr val="DCD7CD"/>
            </a:solidFill>
            <a:prstDash val="solid"/>
          </a:ln>
        </p:spPr>
      </p:sp>
      <p:sp>
        <p:nvSpPr>
          <p:cNvPr id="23" name="Text 21"/>
          <p:cNvSpPr/>
          <p:nvPr/>
        </p:nvSpPr>
        <p:spPr>
          <a:xfrm>
            <a:off x="6432550" y="3178671"/>
            <a:ext cx="4853051" cy="288280"/>
          </a:xfrm>
          <a:prstGeom prst="rect">
            <a:avLst/>
          </a:prstGeom>
          <a:noFill/>
          <a:ln/>
        </p:spPr>
        <p:txBody>
          <a:bodyPr wrap="square" lIns="0" tIns="0" rIns="0" bIns="0" rtlCol="0" anchor="t">
            <a:normAutofit/>
          </a:bodyPr>
          <a:lstStyle/>
          <a:p>
            <a:pPr algn="l" indent="0" marL="0">
              <a:lnSpc>
                <a:spcPts val="2070"/>
              </a:lnSpc>
              <a:buNone/>
            </a:pPr>
            <a:r>
              <a:rPr lang="en-US" sz="1800" dirty="0">
                <a:solidFill>
                  <a:srgbClr val="1F1916"/>
                </a:solidFill>
                <a:latin typeface="Fraunces" pitchFamily="18" charset="0"/>
                <a:ea typeface="Fraunces" pitchFamily="18" charset="-122"/>
                <a:cs typeface="Fraunces" pitchFamily="18" charset="-120"/>
              </a:rPr>
              <a:t>Watch closely</a:t>
            </a:r>
            <a:endParaRPr lang="en-US" sz="1800" dirty="0"/>
          </a:p>
        </p:txBody>
      </p:sp>
      <p:sp>
        <p:nvSpPr>
          <p:cNvPr id="24" name="Text 22"/>
          <p:cNvSpPr/>
          <p:nvPr/>
        </p:nvSpPr>
        <p:spPr>
          <a:xfrm>
            <a:off x="6432550" y="3517751"/>
            <a:ext cx="4853051"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F1916"/>
                </a:solidFill>
                <a:latin typeface="Inter" pitchFamily="34" charset="0"/>
                <a:ea typeface="Inter" pitchFamily="34" charset="-122"/>
                <a:cs typeface="Inter" pitchFamily="34" charset="-120"/>
              </a:rPr>
              <a:t>Measurement accuracy.</a:t>
            </a:r>
            <a:r>
              <a:rPr lang="en-US" sz="1400" dirty="0">
                <a:solidFill>
                  <a:srgbClr val="48413D"/>
                </a:solidFill>
                <a:latin typeface="Inter" pitchFamily="34" charset="0"/>
                <a:ea typeface="Inter" pitchFamily="34" charset="-122"/>
                <a:cs typeface="Inter" pitchFamily="34" charset="-120"/>
              </a:rPr>
              <a:t> Card required, editable numbers; the day-1 spike sets the claim.</a:t>
            </a:r>
            <a:endParaRPr lang="en-US" sz="1400" dirty="0"/>
          </a:p>
        </p:txBody>
      </p:sp>
      <p:sp>
        <p:nvSpPr>
          <p:cNvPr id="25" name="Text 23"/>
          <p:cNvSpPr/>
          <p:nvPr/>
        </p:nvSpPr>
        <p:spPr>
          <a:xfrm>
            <a:off x="6432550" y="4109492"/>
            <a:ext cx="4853051"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F1916"/>
                </a:solidFill>
                <a:latin typeface="Inter" pitchFamily="34" charset="0"/>
                <a:ea typeface="Inter" pitchFamily="34" charset="-122"/>
                <a:cs typeface="Inter" pitchFamily="34" charset="-120"/>
              </a:rPr>
              <a:t>Scope.</a:t>
            </a:r>
            <a:r>
              <a:rPr lang="en-US" sz="1400" dirty="0">
                <a:solidFill>
                  <a:srgbClr val="48413D"/>
                </a:solidFill>
                <a:latin typeface="Inter" pitchFamily="34" charset="0"/>
                <a:ea typeface="Inter" pitchFamily="34" charset="-122"/>
                <a:cs typeface="Inter" pitchFamily="34" charset="-120"/>
              </a:rPr>
              <a:t> Nine days; freeze at the end of day 4.</a:t>
            </a:r>
            <a:endParaRPr lang="en-US" sz="1400" dirty="0"/>
          </a:p>
        </p:txBody>
      </p:sp>
      <p:sp>
        <p:nvSpPr>
          <p:cNvPr id="26" name="Text 24"/>
          <p:cNvSpPr/>
          <p:nvPr/>
        </p:nvSpPr>
        <p:spPr>
          <a:xfrm>
            <a:off x="6432550" y="4443462"/>
            <a:ext cx="4853051"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F1916"/>
                </a:solidFill>
                <a:latin typeface="Inter" pitchFamily="34" charset="0"/>
                <a:ea typeface="Inter" pitchFamily="34" charset="-122"/>
                <a:cs typeface="Inter" pitchFamily="34" charset="-120"/>
              </a:rPr>
              <a:t>Non-Meta parts.</a:t>
            </a:r>
            <a:r>
              <a:rPr lang="en-US" sz="1400" dirty="0">
                <a:solidFill>
                  <a:srgbClr val="48413D"/>
                </a:solidFill>
                <a:latin typeface="Inter" pitchFamily="34" charset="0"/>
                <a:ea typeface="Inter" pitchFamily="34" charset="-122"/>
                <a:cs typeface="Inter" pitchFamily="34" charset="-120"/>
              </a:rPr>
              <a:t> Browser speech and potrace — confirm the rules.</a:t>
            </a:r>
            <a:endParaRPr lang="en-US" sz="14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8413D"/>
                </a:solidFill>
                <a:latin typeface="JetBrains Mono" pitchFamily="49" charset="0"/>
                <a:ea typeface="JetBrains Mono" pitchFamily="49" charset="-122"/>
                <a:cs typeface="JetBrains Mono" pitchFamily="49" charset="-120"/>
              </a:rPr>
              <a:t>Burn-E · Snap → Make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0E0C"/>
        </a:solidFill>
      </p:bgPr>
    </p:bg>
    <p:spTree>
      <p:nvGrpSpPr>
        <p:cNvPr id="1" name=""/>
        <p:cNvGrpSpPr/>
        <p:nvPr/>
      </p:nvGrpSpPr>
      <p:grpSpPr>
        <a:xfrm>
          <a:off x="0" y="0"/>
          <a:ext cx="0" cy="0"/>
          <a:chOff x="0" y="0"/>
          <a:chExt cx="0" cy="0"/>
        </a:xfrm>
      </p:grpSpPr>
      <p:sp>
        <p:nvSpPr>
          <p:cNvPr id="2" name="Text 0"/>
          <p:cNvSpPr/>
          <p:nvPr/>
        </p:nvSpPr>
        <p:spPr>
          <a:xfrm>
            <a:off x="812800" y="167823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C785B"/>
                </a:solidFill>
                <a:latin typeface="JetBrains Mono" pitchFamily="49" charset="0"/>
                <a:ea typeface="JetBrains Mono" pitchFamily="49" charset="-122"/>
                <a:cs typeface="JetBrains Mono" pitchFamily="49" charset="-120"/>
              </a:rPr>
              <a:t>BURN-E · SNAP → MAKE</a:t>
            </a:r>
            <a:endParaRPr lang="en-US" sz="1200" dirty="0"/>
          </a:p>
        </p:txBody>
      </p:sp>
      <p:sp>
        <p:nvSpPr>
          <p:cNvPr id="3" name="Text 1"/>
          <p:cNvSpPr/>
          <p:nvPr>
            <p:ph type="title"/>
          </p:nvPr>
        </p:nvSpPr>
        <p:spPr>
          <a:xfrm>
            <a:off x="812800" y="2145556"/>
            <a:ext cx="10883392" cy="1817588"/>
          </a:xfrm>
          <a:prstGeom prst="rect">
            <a:avLst/>
          </a:prstGeom>
          <a:noFill/>
          <a:ln/>
        </p:spPr>
        <p:txBody>
          <a:bodyPr wrap="square" lIns="0" tIns="0" rIns="0" bIns="0" rtlCol="0" anchor="t">
            <a:normAutofit/>
          </a:bodyPr>
          <a:lstStyle/>
          <a:p>
            <a:pPr algn="l" indent="0" marL="0">
              <a:lnSpc>
                <a:spcPts val="7056"/>
              </a:lnSpc>
              <a:buNone/>
            </a:pPr>
            <a:r>
              <a:rPr lang="en-US" sz="7200" b="0" i="0" spc="-150" kern="0" dirty="0">
                <a:solidFill>
                  <a:srgbClr val="EEEBE5"/>
                </a:solidFill>
                <a:latin typeface="Fraunces" pitchFamily="18" charset="0"/>
                <a:ea typeface="Fraunces" pitchFamily="18" charset="-122"/>
                <a:cs typeface="Fraunces" pitchFamily="18" charset="-120"/>
              </a:rPr>
              <a:t>Show it. Say it.</a:t>
            </a:r>
            <a:endParaRPr lang="en-US" sz="7200" dirty="0"/>
          </a:p>
          <a:p>
            <a:pPr algn="l" indent="0" marL="0">
              <a:lnSpc>
                <a:spcPts val="7056"/>
              </a:lnSpc>
              <a:buNone/>
            </a:pPr>
            <a:r>
              <a:rPr lang="en-US" sz="7200" b="0" i="0" spc="-150" kern="0" dirty="0">
                <a:solidFill>
                  <a:srgbClr val="EC785B"/>
                </a:solidFill>
                <a:latin typeface="Fraunces" pitchFamily="18" charset="0"/>
                <a:ea typeface="Fraunces" pitchFamily="18" charset="-122"/>
                <a:cs typeface="Fraunces" pitchFamily="18" charset="-120"/>
              </a:rPr>
              <a:t>Burn it.</a:t>
            </a:r>
            <a:endParaRPr lang="en-US" sz="7200" dirty="0"/>
          </a:p>
        </p:txBody>
      </p:sp>
      <p:sp>
        <p:nvSpPr>
          <p:cNvPr id="4" name="Text 2"/>
          <p:cNvSpPr/>
          <p:nvPr/>
        </p:nvSpPr>
        <p:spPr>
          <a:xfrm>
            <a:off x="812800" y="4191744"/>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AB7B2"/>
                </a:solidFill>
                <a:latin typeface="Inter" pitchFamily="34" charset="0"/>
                <a:ea typeface="Inter" pitchFamily="34" charset="-122"/>
                <a:cs typeface="Inter" pitchFamily="34" charset="-120"/>
              </a:rPr>
              <a:t>From what you see and say to something you can hold.</a:t>
            </a:r>
            <a:endParaRPr lang="en-US" sz="2000" dirty="0"/>
          </a:p>
        </p:txBody>
      </p:sp>
      <p:sp>
        <p:nvSpPr>
          <p:cNvPr id="5" name="Text 3"/>
          <p:cNvSpPr/>
          <p:nvPr/>
        </p:nvSpPr>
        <p:spPr>
          <a:xfrm>
            <a:off x="812800" y="4788644"/>
            <a:ext cx="10883392" cy="416520"/>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EC785B"/>
                </a:solidFill>
                <a:latin typeface="Fraunces" pitchFamily="18" charset="0"/>
                <a:ea typeface="Fraunces" pitchFamily="18" charset="-122"/>
                <a:cs typeface="Fraunces" pitchFamily="18" charset="-120"/>
              </a:rPr>
              <a:t>submit by noon, Nov 4</a:t>
            </a:r>
            <a:endParaRPr lang="en-US" sz="2200" dirty="0"/>
          </a:p>
        </p:txBody>
      </p:sp>
    </p:spTree>
  </p:cSld>
  <p:clrMapOvr>
    <a:masterClrMapping/>
  </p:clrMapOvr>
</p:sld>
</file>

<file path=ppt/theme/theme1.xml><?xml version="1.0" encoding="utf-8"?>
<a:theme xmlns:a="http://schemas.openxmlformats.org/drawingml/2006/main" name="Burn-E · Snap → Make Phase 1">
  <a:themeElements>
    <a:clrScheme name="Burn-E · Snap → Make Phase 1">
      <a:dk1>
        <a:srgbClr val="1F1916"/>
      </a:dk1>
      <a:lt1>
        <a:srgbClr val="F9F6F1"/>
      </a:lt1>
      <a:dk2>
        <a:srgbClr val="56504D"/>
      </a:dk2>
      <a:lt2>
        <a:srgbClr val="E3E0DB"/>
      </a:lt2>
      <a:accent1>
        <a:srgbClr val="C25237"/>
      </a:accent1>
      <a:accent2>
        <a:srgbClr val="EC785B"/>
      </a:accent2>
      <a:accent3>
        <a:srgbClr val="48413D"/>
      </a:accent3>
      <a:accent4>
        <a:srgbClr val="BAB7B2"/>
      </a:accent4>
      <a:accent5>
        <a:srgbClr val="9AA0A6"/>
      </a:accent5>
      <a:accent6>
        <a:srgbClr val="76716E"/>
      </a:accent6>
      <a:hlink>
        <a:srgbClr val="0563C1"/>
      </a:hlink>
      <a:folHlink>
        <a:srgbClr val="954F72"/>
      </a:folHlink>
    </a:clrScheme>
    <a:fontScheme name="Burn-E · Snap → Make Phase 1">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Burn-E · Snap → Make Phase 1</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2026-10-27T12:13:16Z</dcterms:created>
  <dcterms:modified xsi:type="dcterms:W3CDTF">2026-10-27T12:13:16Z</dcterms:modified>
</cp:coreProperties>
</file>